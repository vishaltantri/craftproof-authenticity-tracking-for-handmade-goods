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4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embedTrueTypeFonts="1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25"/>
    <p:sldId id="267" r:id="rId26"/>
    <p:sldId id="268" r:id="rId27"/>
    <p:sldId id="269" r:id="rId28"/>
    <p:sldId id="270" r:id="rId29"/>
    <p:sldId id="271" r:id="rId30"/>
    <p:sldId id="272" r:id="rId31"/>
    <p:sldId id="273" r:id="rId32"/>
    <p:sldId id="274" r:id="rId33"/>
    <p:sldId id="275" r:id="rId34"/>
    <p:sldId id="276" r:id="rId35"/>
    <p:sldId id="277" r:id="rId36"/>
    <p:sldId id="278" r:id="rId37"/>
    <p:sldId id="279" r:id="rId38"/>
    <p:sldId id="280" r:id="rId39"/>
    <p:sldId id="281" r:id="rId40"/>
    <p:sldId id="282" r:id="rId41"/>
    <p:sldId id="283" r:id="rId42"/>
    <p:sldId id="284" r:id="rId43"/>
    <p:sldId id="285" r:id="rId44"/>
    <p:sldId id="286" r:id="rId45"/>
    <p:sldId id="287" r:id="rId46"/>
  </p:sldIdLst>
  <p:sldSz cx="12192000" cy="6858000"/>
  <p:notesSz cx="6858000" cy="12192000"/>
  <p:embeddedFontLst>
    <p:embeddedFont>
      <p:font typeface="Consolas"/>
    </p:embeddedFont>
    <p:embeddedFont>
      <p:font typeface="Noto Sans"/>
      <p:regular r:id="rId14"/>
      <p:bold r:id="rId15"/>
      <p:italic r:id="rId16"/>
      <p:boldItalic r:id="rId17"/>
    </p:embeddedFont>
    <p:embeddedFont>
      <p:font typeface="Figtree Bold"/>
      <p:bold r:id="rId18"/>
    </p:embeddedFont>
    <p:embeddedFont>
      <p:font typeface="Baloo 2"/>
      <p:regular r:id="rId19"/>
    </p:embeddedFont>
    <p:embeddedFont>
      <p:font typeface="Cormorant Garamond SemiBold"/>
    </p:embeddedFont>
    <p:embeddedFont>
      <p:font typeface="Cormorant Garamond"/>
      <p:regular r:id="rId20"/>
    </p:embeddedFont>
    <p:embeddedFont>
      <p:font typeface="Figtree SemiBold"/>
    </p:embeddedFont>
    <p:embeddedFont>
      <p:font typeface="Figtree Medium"/>
    </p:embeddedFont>
    <p:embeddedFont>
      <p:font typeface="Figtree"/>
      <p:regular r:id="rId21"/>
    </p:embeddedFont>
    <p:embeddedFont>
      <p:font typeface="+mn-lt"/>
    </p:embeddedFont>
    <p:embeddedFont>
      <p:font typeface="Noto Sans CJK SC"/>
      <p:regular r:id="rId22"/>
      <p:bold r:id="rId23"/>
    </p:embeddedFont>
    <p:embeddedFont>
      <p:font typeface="+mn-ea"/>
    </p:embeddedFont>
    <p:embeddedFont>
      <p:font typeface="+mn-cs"/>
    </p:embeddedFont>
  </p:embeddedFontLst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font" Target="fonts/Font_1_Noto_Sans_Regular.fntdata"/><Relationship Id="rId15" Type="http://schemas.openxmlformats.org/officeDocument/2006/relationships/font" Target="fonts/Font_2_Noto_Sans_Bold.fntdata"/><Relationship Id="rId16" Type="http://schemas.openxmlformats.org/officeDocument/2006/relationships/font" Target="fonts/Font_3_Noto_Sans_Italic.fntdata"/><Relationship Id="rId17" Type="http://schemas.openxmlformats.org/officeDocument/2006/relationships/font" Target="fonts/Font_4_Noto_Sans_BoldItalic.fntdata"/><Relationship Id="rId18" Type="http://schemas.openxmlformats.org/officeDocument/2006/relationships/font" Target="fonts/Font_5_Figtree_Bold_Bold.fntdata"/><Relationship Id="rId19" Type="http://schemas.openxmlformats.org/officeDocument/2006/relationships/font" Target="fonts/Font_6_Baloo_2_Regular.fntdata"/><Relationship Id="rId20" Type="http://schemas.openxmlformats.org/officeDocument/2006/relationships/font" Target="fonts/Font_7_Cormorant_Garamond_Regular.fntdata"/><Relationship Id="rId21" Type="http://schemas.openxmlformats.org/officeDocument/2006/relationships/font" Target="fonts/Font_8_Figtree_Regular.fntdata"/><Relationship Id="rId22" Type="http://schemas.openxmlformats.org/officeDocument/2006/relationships/font" Target="fonts/Font_9_Noto_Sans_CJK_SC_Regular.fntdata"/><Relationship Id="rId23" Type="http://schemas.openxmlformats.org/officeDocument/2006/relationships/font" Target="fonts/Font_10_Noto_Sans_CJK_SC_Bold.fntdata"/><Relationship Id="rId24" Type="http://schemas.openxmlformats.org/officeDocument/2006/relationships/presProps" Target="presProps.xml"/><Relationship Id="rId25" Type="http://schemas.openxmlformats.org/officeDocument/2006/relationships/slide" Target="slides/slide11.xml"/><Relationship Id="rId26" Type="http://schemas.openxmlformats.org/officeDocument/2006/relationships/slide" Target="slides/slide12.xml"/><Relationship Id="rId27" Type="http://schemas.openxmlformats.org/officeDocument/2006/relationships/slide" Target="slides/slide13.xml"/><Relationship Id="rId28" Type="http://schemas.openxmlformats.org/officeDocument/2006/relationships/slide" Target="slides/slide14.xml"/><Relationship Id="rId29" Type="http://schemas.openxmlformats.org/officeDocument/2006/relationships/slide" Target="slides/slide15.xml"/><Relationship Id="rId30" Type="http://schemas.openxmlformats.org/officeDocument/2006/relationships/slide" Target="slides/slide16.xml"/><Relationship Id="rId31" Type="http://schemas.openxmlformats.org/officeDocument/2006/relationships/slide" Target="slides/slide17.xml"/><Relationship Id="rId32" Type="http://schemas.openxmlformats.org/officeDocument/2006/relationships/slide" Target="slides/slide18.xml"/><Relationship Id="rId33" Type="http://schemas.openxmlformats.org/officeDocument/2006/relationships/slide" Target="slides/slide19.xml"/><Relationship Id="rId34" Type="http://schemas.openxmlformats.org/officeDocument/2006/relationships/slide" Target="slides/slide20.xml"/><Relationship Id="rId35" Type="http://schemas.openxmlformats.org/officeDocument/2006/relationships/slide" Target="slides/slide21.xml"/><Relationship Id="rId36" Type="http://schemas.openxmlformats.org/officeDocument/2006/relationships/slide" Target="slides/slide22.xml"/><Relationship Id="rId37" Type="http://schemas.openxmlformats.org/officeDocument/2006/relationships/slide" Target="slides/slide23.xml"/><Relationship Id="rId38" Type="http://schemas.openxmlformats.org/officeDocument/2006/relationships/slide" Target="slides/slide24.xml"/><Relationship Id="rId39" Type="http://schemas.openxmlformats.org/officeDocument/2006/relationships/slide" Target="slides/slide25.xml"/><Relationship Id="rId40" Type="http://schemas.openxmlformats.org/officeDocument/2006/relationships/slide" Target="slides/slide26.xml"/><Relationship Id="rId41" Type="http://schemas.openxmlformats.org/officeDocument/2006/relationships/slide" Target="slides/slide27.xml"/><Relationship Id="rId42" Type="http://schemas.openxmlformats.org/officeDocument/2006/relationships/slide" Target="slides/slide28.xml"/><Relationship Id="rId43" Type="http://schemas.openxmlformats.org/officeDocument/2006/relationships/slide" Target="slides/slide29.xml"/><Relationship Id="rId44" Type="http://schemas.openxmlformats.org/officeDocument/2006/relationships/slide" Target="slides/slide30.xml"/><Relationship Id="rId45" Type="http://schemas.openxmlformats.org/officeDocument/2006/relationships/slide" Target="slides/slide31.xml"/><Relationship Id="rId46" Type="http://schemas.openxmlformats.org/officeDocument/2006/relationships/slide" Target="slides/slide3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sldImg"/>
          </p:nvPr>
        </p:nvSpPr>
        <p:spPr>
          <a:xfrm>
            <a:off x="0" y="76428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A860C188-98E5-46AE-91C9-911B9C0067D2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Introduce the project: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CraftProof brings tamper-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evident digital custody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tracking to artisans and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buyers without requiring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blockchain accounts,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cryptocurrency, or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specialized hardware.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237246C-C863-4312-A1D8-5281A735CA7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Frame the core tension: artisanal items command premiums, but buyers lack reliable tools to prove provenance without incurring massive technical overhead.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0F4631D-1564-4CA3-89C4-CC97C1408D5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F49236C-D946-4F64-A627-2B32175C462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Expl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ain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core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pipe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line: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Regi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ster,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Tran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sfer,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Seal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Verif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y.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High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light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that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all 7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desi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gn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obje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ctive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are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grou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nde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dire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ctly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tech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nical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impl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eme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ntati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58C8571-3500-4E3B-9BDE-ADE5B73EC88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Ground CraftProof in established literature. We combine Haber-Stornetta chains,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Merkle trees, and Ed25519 signatures, discarding unnecessary consensus overhead.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F7AA1BE-3A2D-4D35-8983-DED685EB5CE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Emphasize that CraftProof's innovation lies in its protocol design: solving the onboarding problem while preserving tamper-evidence and pinpoint diagnostics.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49B9EA5-401F-4950-B74A-072FCB00898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Walk through the architecture: the 3 distinct application tiers, the 4 SQLite schema tables, and the exact 6-step cryptographic verification sequence.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76E566B-F152-4F21-B9E3-90EB0711734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581AB58-1687-440E-A23C-FD1063153B7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Present test results: all 12 test suites pass. Walk through the tamper demo output showing exact step isolation, and openly discuss the real-world physical and architectural limitations.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F596C46-8EA1-4AD2-BD76-A244F1D6B53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Sum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mari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ze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con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clusi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ons: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Craf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tPro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of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prov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es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that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cryp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togr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aphi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cust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ody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trac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king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doe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not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requ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ire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bloc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kch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ain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com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plexi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ty.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Outli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ne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clea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road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map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for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prod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ucti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on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hard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enin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and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NFC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phy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sical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bind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ing.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48EDFCC-5DC8-490C-B770-DE64B220B36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master 1">
    <p:bg>
      <p:bgPr>
        <a:solidFill>
          <a:srgbClr val="FF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/>
          <p:nvPr/>
        </p:nvPicPr>
        <p:blipFill>
          <a:blip r:embed="rId2"/>
          <a:stretch/>
        </p:blipFill>
        <p:spPr>
          <a:xfrm>
            <a:off x="0" y="0"/>
            <a:ext cx="1219140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master 2">
    <p:bg>
      <p:bgPr>
        <a:solidFill>
          <a:srgbClr val="FF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3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4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5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5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6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hape 0"/>
          <p:cNvSpPr/>
          <p:nvPr/>
        </p:nvSpPr>
        <p:spPr>
          <a:xfrm>
            <a:off x="406440" y="1015920"/>
            <a:ext cx="5714640" cy="4825800"/>
          </a:xfrm>
          <a:prstGeom prst="rect">
            <a:avLst/>
          </a:prstGeom>
          <a:solidFill>
            <a:srgbClr val="420C1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" name="Text 1"/>
          <p:cNvSpPr/>
          <p:nvPr/>
        </p:nvSpPr>
        <p:spPr>
          <a:xfrm>
            <a:off x="812880" y="1531080"/>
            <a:ext cx="5511240" cy="21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8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C8000"/>
                </a:solidFill>
                <a:effectLst/>
                <a:uFillTx/>
                <a:latin typeface="Figtree Medium"/>
                <a:ea typeface="Figtree Medium"/>
              </a:rPr>
              <a:t>FINAL </a:t>
            </a:r>
            <a:r>
              <a:rPr lang="en-US" sz="1300" b="0" u="none" strike="noStrike">
                <a:solidFill>
                  <a:srgbClr val="CC8000"/>
                </a:solidFill>
                <a:effectLst/>
                <a:uFillTx/>
                <a:latin typeface="Figtree Medium"/>
                <a:ea typeface="Figtree Medium"/>
              </a:rPr>
              <a:t>PROJECT </a:t>
            </a:r>
            <a:r>
              <a:rPr lang="en-US" sz="1300" b="0" u="none" strike="noStrike">
                <a:solidFill>
                  <a:srgbClr val="CC8000"/>
                </a:solidFill>
                <a:effectLst/>
                <a:uFillTx/>
                <a:latin typeface="Figtree Medium"/>
                <a:ea typeface="Figtree Medium"/>
              </a:rPr>
              <a:t>REVIEW · </a:t>
            </a:r>
            <a:r>
              <a:rPr lang="en-US" sz="1300" b="0" u="none" strike="noStrike">
                <a:solidFill>
                  <a:srgbClr val="CC8000"/>
                </a:solidFill>
                <a:effectLst/>
                <a:uFillTx/>
                <a:latin typeface="Figtree Medium"/>
                <a:ea typeface="Figtree Medium"/>
              </a:rPr>
              <a:t>M.TECH(INT) </a:t>
            </a:r>
            <a:r>
              <a:rPr lang="en-US" sz="1300" b="0" u="none" strike="noStrike">
                <a:solidFill>
                  <a:srgbClr val="CC8000"/>
                </a:solidFill>
                <a:effectLst/>
                <a:uFillTx/>
                <a:latin typeface="Figtree Medium"/>
                <a:ea typeface="Figtree Medium"/>
              </a:rPr>
              <a:t>CSE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2"/>
          <p:cNvSpPr/>
          <p:nvPr/>
        </p:nvSpPr>
        <p:spPr>
          <a:xfrm>
            <a:off x="812880" y="1904040"/>
            <a:ext cx="4901760" cy="154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 lnSpcReduction="9999"/>
          </a:bodyPr>
          <a:p>
            <a:pPr defTabSz="914400">
              <a:lnSpc>
                <a:spcPct val="77000"/>
              </a:lnSpc>
              <a:tabLst>
                <a:tab pos="0" algn="l"/>
              </a:tabLst>
            </a:pPr>
            <a:r>
              <a:rPr lang="en-US" sz="4400" b="0" u="none" spc="-111" strike="noStrike">
                <a:solidFill>
                  <a:srgbClr val="FFFFFF"/>
                </a:solidFill>
                <a:effectLst/>
                <a:uFillTx/>
                <a:latin typeface="Cormorant Garamond SemiBold"/>
                <a:ea typeface="Cormorant Garamond SemiBold"/>
              </a:rPr>
              <a:t>Craf</a:t>
            </a:r>
            <a:r>
              <a:rPr lang="en-US" sz="4400" b="0" u="none" spc="-111" strike="noStrike">
                <a:solidFill>
                  <a:srgbClr val="FFFFFF"/>
                </a:solidFill>
                <a:effectLst/>
                <a:uFillTx/>
                <a:latin typeface="Cormorant Garamond SemiBold"/>
                <a:ea typeface="Cormorant Garamond SemiBold"/>
              </a:rPr>
              <a:t>tPro</a:t>
            </a:r>
            <a:r>
              <a:rPr lang="en-US" sz="4400" b="0" u="none" spc="-111" strike="noStrike">
                <a:solidFill>
                  <a:srgbClr val="FFFFFF"/>
                </a:solidFill>
                <a:effectLst/>
                <a:uFillTx/>
                <a:latin typeface="Cormorant Garamond SemiBold"/>
                <a:ea typeface="Cormorant Garamond SemiBold"/>
              </a:rPr>
              <a:t>of: </a:t>
            </a:r>
            <a:r>
              <a:rPr lang="en-US" sz="4400" b="0" u="none" spc="-111" strike="noStrike">
                <a:solidFill>
                  <a:srgbClr val="FFFFFF"/>
                </a:solidFill>
                <a:effectLst/>
                <a:uFillTx/>
                <a:latin typeface="Cormorant Garamond SemiBold"/>
                <a:ea typeface="Cormorant Garamond SemiBold"/>
              </a:rPr>
              <a:t>Aut</a:t>
            </a:r>
            <a:r>
              <a:rPr lang="en-US" sz="4400" b="0" u="none" spc="-111" strike="noStrike">
                <a:solidFill>
                  <a:srgbClr val="FFFFFF"/>
                </a:solidFill>
                <a:effectLst/>
                <a:uFillTx/>
                <a:latin typeface="Cormorant Garamond SemiBold"/>
                <a:ea typeface="Cormorant Garamond SemiBold"/>
              </a:rPr>
              <a:t>henti</a:t>
            </a:r>
            <a:r>
              <a:rPr lang="en-US" sz="4400" b="0" u="none" spc="-111" strike="noStrike">
                <a:solidFill>
                  <a:srgbClr val="FFFFFF"/>
                </a:solidFill>
                <a:effectLst/>
                <a:uFillTx/>
                <a:latin typeface="Cormorant Garamond SemiBold"/>
                <a:ea typeface="Cormorant Garamond SemiBold"/>
              </a:rPr>
              <a:t>city </a:t>
            </a:r>
            <a:r>
              <a:rPr lang="en-US" sz="4400" b="0" u="none" spc="-111" strike="noStrike">
                <a:solidFill>
                  <a:srgbClr val="FFFFFF"/>
                </a:solidFill>
                <a:effectLst/>
                <a:uFillTx/>
                <a:latin typeface="Cormorant Garamond SemiBold"/>
                <a:ea typeface="Cormorant Garamond SemiBold"/>
              </a:rPr>
              <a:t>Trac</a:t>
            </a:r>
            <a:r>
              <a:rPr lang="en-US" sz="4400" b="0" u="none" spc="-111" strike="noStrike">
                <a:solidFill>
                  <a:srgbClr val="FFFFFF"/>
                </a:solidFill>
                <a:effectLst/>
                <a:uFillTx/>
                <a:latin typeface="Cormorant Garamond SemiBold"/>
                <a:ea typeface="Cormorant Garamond SemiBold"/>
              </a:rPr>
              <a:t>king </a:t>
            </a:r>
            <a:r>
              <a:rPr lang="en-US" sz="4400" b="0" u="none" spc="-111" strike="noStrike">
                <a:solidFill>
                  <a:srgbClr val="FFFFFF"/>
                </a:solidFill>
                <a:effectLst/>
                <a:uFillTx/>
                <a:latin typeface="Cormorant Garamond SemiBold"/>
                <a:ea typeface="Cormorant Garamond SemiBold"/>
              </a:rPr>
              <a:t>for </a:t>
            </a:r>
            <a:r>
              <a:rPr lang="en-US" sz="4400" b="0" u="none" spc="-111" strike="noStrike">
                <a:solidFill>
                  <a:srgbClr val="1D7C73"/>
                </a:solidFill>
                <a:effectLst/>
                <a:uFillTx/>
                <a:latin typeface="Cormorant Garamond SemiBold"/>
                <a:ea typeface="Cormorant Garamond SemiBold"/>
              </a:rPr>
              <a:t>Han</a:t>
            </a:r>
            <a:r>
              <a:rPr lang="en-US" sz="4400" b="0" u="none" spc="-111" strike="noStrike">
                <a:solidFill>
                  <a:srgbClr val="1D7C73"/>
                </a:solidFill>
                <a:effectLst/>
                <a:uFillTx/>
                <a:latin typeface="Cormorant Garamond SemiBold"/>
                <a:ea typeface="Cormorant Garamond SemiBold"/>
              </a:rPr>
              <a:t>dma</a:t>
            </a:r>
            <a:r>
              <a:rPr lang="en-US" sz="4400" b="0" u="none" spc="-111" strike="noStrike">
                <a:solidFill>
                  <a:srgbClr val="1D7C73"/>
                </a:solidFill>
                <a:effectLst/>
                <a:uFillTx/>
                <a:latin typeface="Cormorant Garamond SemiBold"/>
                <a:ea typeface="Cormorant Garamond SemiBold"/>
              </a:rPr>
              <a:t>de </a:t>
            </a:r>
            <a:r>
              <a:rPr lang="en-US" sz="4400" b="0" u="none" spc="-111" strike="noStrike">
                <a:solidFill>
                  <a:srgbClr val="1D7C73"/>
                </a:solidFill>
                <a:effectLst/>
                <a:uFillTx/>
                <a:latin typeface="Cormorant Garamond SemiBold"/>
                <a:ea typeface="Cormorant Garamond SemiBold"/>
              </a:rPr>
              <a:t>Goo</a:t>
            </a:r>
            <a:r>
              <a:rPr lang="en-US" sz="4400" b="0" u="none" spc="-111" strike="noStrike">
                <a:solidFill>
                  <a:srgbClr val="1D7C73"/>
                </a:solidFill>
                <a:effectLst/>
                <a:uFillTx/>
                <a:latin typeface="Cormorant Garamond SemiBold"/>
                <a:ea typeface="Cormorant Garamond SemiBold"/>
              </a:rPr>
              <a:t>ds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Shape 3"/>
          <p:cNvSpPr/>
          <p:nvPr/>
        </p:nvSpPr>
        <p:spPr>
          <a:xfrm>
            <a:off x="812880" y="3735000"/>
            <a:ext cx="612360" cy="37800"/>
          </a:xfrm>
          <a:prstGeom prst="roundRect">
            <a:avLst>
              <a:gd name="adj" fmla="val 49999"/>
            </a:avLst>
          </a:prstGeom>
          <a:solidFill>
            <a:srgbClr val="EBC9C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18000" rIns="90000" bIns="-18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Text 4"/>
          <p:cNvSpPr/>
          <p:nvPr/>
        </p:nvSpPr>
        <p:spPr>
          <a:xfrm>
            <a:off x="812880" y="4081320"/>
            <a:ext cx="4901760" cy="12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17000"/>
              </a:lnSpc>
              <a:spcAft>
                <a:spcPts val="1950"/>
              </a:spcAft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Figtree"/>
                <a:ea typeface="Figtree"/>
              </a:rPr>
              <a:t>Tamper-</a:t>
            </a: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Figtree"/>
                <a:ea typeface="Figtree"/>
              </a:rPr>
              <a:t>evident </a:t>
            </a: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Figtree"/>
                <a:ea typeface="Figtree"/>
              </a:rPr>
              <a:t>digital </a:t>
            </a: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Figtree"/>
                <a:ea typeface="Figtree"/>
              </a:rPr>
              <a:t>certificates </a:t>
            </a: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Figtree"/>
                <a:ea typeface="Figtree"/>
              </a:rPr>
              <a:t>and </a:t>
            </a: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Figtree"/>
                <a:ea typeface="Figtree"/>
              </a:rPr>
              <a:t>ownership </a:t>
            </a: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Figtree"/>
                <a:ea typeface="Figtree"/>
              </a:rPr>
              <a:t>history using </a:t>
            </a: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Figtree"/>
                <a:ea typeface="Figtree"/>
              </a:rPr>
              <a:t>hash chains, </a:t>
            </a: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Figtree"/>
                <a:ea typeface="Figtree"/>
              </a:rPr>
              <a:t>Ed25519 </a:t>
            </a: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Figtree"/>
                <a:ea typeface="Figtree"/>
              </a:rPr>
              <a:t>signatures </a:t>
            </a: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Figtree"/>
                <a:ea typeface="Figtree"/>
              </a:rPr>
              <a:t>and Merkle </a:t>
            </a: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Figtree"/>
                <a:ea typeface="Figtree"/>
              </a:rPr>
              <a:t>checkpoints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7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Figtree Bold"/>
                <a:ea typeface="Figtree Bold"/>
              </a:rPr>
              <a:t>Vishal C </a:t>
            </a: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Figtree Bold"/>
                <a:ea typeface="Figtree Bold"/>
              </a:rPr>
              <a:t>Tantri</a:t>
            </a: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Figtree"/>
                <a:ea typeface="Figtree"/>
              </a:rPr>
              <a:t> · </a:t>
            </a: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Figtree"/>
                <a:ea typeface="Figtree"/>
              </a:rPr>
              <a:t>Register no. </a:t>
            </a: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Figtree"/>
                <a:ea typeface="Figtree"/>
              </a:rPr>
              <a:t>[24MIC0068</a:t>
            </a: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Figtree"/>
                <a:ea typeface="Figtree"/>
              </a:rPr>
              <a:t>]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0"/>
          <p:cNvSpPr/>
          <p:nvPr/>
        </p:nvSpPr>
        <p:spPr>
          <a:xfrm>
            <a:off x="0" y="0"/>
            <a:ext cx="4876200" cy="6857640"/>
          </a:xfrm>
          <a:prstGeom prst="rect">
            <a:avLst/>
          </a:prstGeom>
          <a:solidFill>
            <a:srgbClr val="F3EAE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9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487620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" name="Text 1"/>
          <p:cNvSpPr/>
          <p:nvPr/>
        </p:nvSpPr>
        <p:spPr>
          <a:xfrm>
            <a:off x="5435640" y="447840"/>
            <a:ext cx="6552720" cy="21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8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7A5C60"/>
                </a:solidFill>
                <a:effectLst/>
                <a:uFillTx/>
                <a:latin typeface="Figtree Medium"/>
                <a:ea typeface="Figtree Medium"/>
              </a:rPr>
              <a:t>PROBLEM &amp; </a:t>
            </a:r>
            <a:r>
              <a:rPr lang="en-US" sz="1300" b="0" u="none" strike="noStrike">
                <a:solidFill>
                  <a:srgbClr val="7A5C60"/>
                </a:solidFill>
                <a:effectLst/>
                <a:uFillTx/>
                <a:latin typeface="Figtree Medium"/>
                <a:ea typeface="Figtree Medium"/>
              </a:rPr>
              <a:t>OBJECTIVE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2"/>
          <p:cNvSpPr/>
          <p:nvPr/>
        </p:nvSpPr>
        <p:spPr>
          <a:xfrm>
            <a:off x="5435640" y="797040"/>
            <a:ext cx="5943240" cy="79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 lnSpcReduction="9999"/>
          </a:bodyPr>
          <a:p>
            <a:pPr defTabSz="914400">
              <a:lnSpc>
                <a:spcPct val="88000"/>
              </a:lnSpc>
              <a:tabLst>
                <a:tab pos="0" algn="l"/>
              </a:tabLst>
            </a:pPr>
            <a:r>
              <a:rPr lang="en-US" sz="3000" b="0" u="none" spc="-45" strike="noStrike">
                <a:solidFill>
                  <a:srgbClr val="420C1C"/>
                </a:solidFill>
                <a:effectLst/>
                <a:uFillTx/>
                <a:latin typeface="Cormorant Garamond SemiBold"/>
                <a:ea typeface="Cormorant Garamond SemiBold"/>
              </a:rPr>
              <a:t>Anyone should be able to check a handmade piece is genuine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Shape 3"/>
          <p:cNvSpPr/>
          <p:nvPr/>
        </p:nvSpPr>
        <p:spPr>
          <a:xfrm>
            <a:off x="5435640" y="1909800"/>
            <a:ext cx="742680" cy="37800"/>
          </a:xfrm>
          <a:prstGeom prst="roundRect">
            <a:avLst>
              <a:gd name="adj" fmla="val 49999"/>
            </a:avLst>
          </a:prstGeom>
          <a:solidFill>
            <a:srgbClr val="2EC4B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18000" rIns="90000" bIns="-18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" name="Text 4"/>
          <p:cNvSpPr/>
          <p:nvPr/>
        </p:nvSpPr>
        <p:spPr>
          <a:xfrm>
            <a:off x="5435640" y="2256120"/>
            <a:ext cx="5943240" cy="420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marL="345600" indent="-345600" defTabSz="914400">
              <a:lnSpc>
                <a:spcPct val="117000"/>
              </a:lnSpc>
              <a:buClr>
                <a:srgbClr val="420C1C"/>
              </a:buClr>
              <a:buFont typeface="Symbol" charset="2"/>
              <a:buChar char=""/>
            </a:pP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A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r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t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i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s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a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n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s 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i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s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s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u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e 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a 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d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i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g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i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t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a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l 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c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e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r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t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if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i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c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a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t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e 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a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n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d 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Q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R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 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t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a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g 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f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o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r 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e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a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c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h 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p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i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e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c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e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; 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e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v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e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r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y 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h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a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n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d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o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v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e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r 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(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m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a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k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e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r, 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g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a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ll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e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r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y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, 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b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u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y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e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r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) 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i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s 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s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i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g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n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e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d 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a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n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d 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r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e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c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o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r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d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e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d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5600" indent="-345600" defTabSz="914400">
              <a:lnSpc>
                <a:spcPct val="117000"/>
              </a:lnSpc>
              <a:buClr>
                <a:srgbClr val="420C1C"/>
              </a:buClr>
              <a:buFont typeface="Symbol" charset="2"/>
              <a:buChar char=""/>
            </a:pP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A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n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y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o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n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e 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s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c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a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n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s 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t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h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e 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Q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R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 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t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o 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s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e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e 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t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h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e 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m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a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k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e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r, 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o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w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n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e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r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s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h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i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p 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h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i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s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t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o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r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y 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a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n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d 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a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u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t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h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e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n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t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i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c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i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t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y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, 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w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i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t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h 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n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o 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l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o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g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i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n 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o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r 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a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p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p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5600" indent="-345600" defTabSz="914400">
              <a:lnSpc>
                <a:spcPct val="117000"/>
              </a:lnSpc>
              <a:buClr>
                <a:srgbClr val="420C1C"/>
              </a:buClr>
              <a:buFont typeface="Symbol" charset="2"/>
              <a:buChar char=""/>
            </a:pP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U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s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e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r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s 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s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e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e 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o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n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l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y 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“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V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e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ri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fi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e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d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”, 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“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C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e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r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t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if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i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c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a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t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e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” 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a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n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d 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“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O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w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n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e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r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s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h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i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p 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H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i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s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t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o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r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y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”, 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n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e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v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e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r 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h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a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s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h 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o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r 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s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i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g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n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a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t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u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r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e 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j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a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r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g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o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n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5600" indent="-345600" defTabSz="914400">
              <a:lnSpc>
                <a:spcPct val="117000"/>
              </a:lnSpc>
              <a:buClr>
                <a:srgbClr val="420C1C"/>
              </a:buClr>
              <a:buFont typeface="Symbol" charset="2"/>
              <a:buChar char=""/>
            </a:pP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P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r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o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b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l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e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m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: 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h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a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n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d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m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a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d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e 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g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o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o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d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s 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a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r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e 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e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a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s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y 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t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o 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c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o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u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n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t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e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r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f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e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i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t 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o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r 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m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i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s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-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a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t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t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ri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b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u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t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e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; 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p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a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p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e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r 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c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e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r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t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if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i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c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a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t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e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s 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c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a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n 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b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e 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f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o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r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g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e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d 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a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n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d 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s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e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ll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e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r 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r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e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c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o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r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d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s 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s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il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e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n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tl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y 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e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d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i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t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e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d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5600" indent="-345600" defTabSz="914400">
              <a:lnSpc>
                <a:spcPct val="117000"/>
              </a:lnSpc>
              <a:buClr>
                <a:srgbClr val="420C1C"/>
              </a:buClr>
              <a:buFont typeface="Symbol" charset="2"/>
              <a:buChar char=""/>
            </a:pP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V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e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ri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fi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c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a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t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i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o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n 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i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s 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o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u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t 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o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f 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r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e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a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c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h 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f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o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r 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o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r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d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i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n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a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r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y 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b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u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y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e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r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s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; 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h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o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w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 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d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o 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w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e 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m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a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k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e 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h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i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s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t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o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r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y 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c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h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e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c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k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a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b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l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e 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i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n 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s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e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c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o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n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d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s 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a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n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d 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a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n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y 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a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lt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e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r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a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t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i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o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n 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d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e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t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e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c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t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a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b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l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e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?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 0"/>
          <p:cNvSpPr/>
          <p:nvPr/>
        </p:nvSpPr>
        <p:spPr>
          <a:xfrm>
            <a:off x="812880" y="836640"/>
            <a:ext cx="914328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88000"/>
              </a:lnSpc>
              <a:tabLst>
                <a:tab pos="0" algn="l"/>
              </a:tabLst>
            </a:pPr>
            <a:r>
              <a:rPr lang="en-US" sz="3000" b="0" u="none" spc="-45" strike="noStrike">
                <a:solidFill>
                  <a:srgbClr val="420C1C"/>
                </a:solidFill>
                <a:effectLst/>
                <a:uFillTx/>
                <a:latin typeface="Cormorant Garamond SemiBold"/>
                <a:ea typeface="Cormorant Garamond SemiBold"/>
              </a:rPr>
              <a:t>Exi</a:t>
            </a:r>
            <a:r>
              <a:rPr lang="en-US" sz="3000" b="0" u="none" spc="-45" strike="noStrike">
                <a:solidFill>
                  <a:srgbClr val="420C1C"/>
                </a:solidFill>
                <a:effectLst/>
                <a:uFillTx/>
                <a:latin typeface="Cormorant Garamond SemiBold"/>
                <a:ea typeface="Cormorant Garamond SemiBold"/>
              </a:rPr>
              <a:t>sti</a:t>
            </a:r>
            <a:r>
              <a:rPr lang="en-US" sz="3000" b="0" u="none" spc="-45" strike="noStrike">
                <a:solidFill>
                  <a:srgbClr val="420C1C"/>
                </a:solidFill>
                <a:effectLst/>
                <a:uFillTx/>
                <a:latin typeface="Cormorant Garamond SemiBold"/>
                <a:ea typeface="Cormorant Garamond SemiBold"/>
              </a:rPr>
              <a:t>ng </a:t>
            </a:r>
            <a:r>
              <a:rPr lang="en-US" sz="3000" b="0" u="none" spc="-45" strike="noStrike">
                <a:solidFill>
                  <a:srgbClr val="420C1C"/>
                </a:solidFill>
                <a:effectLst/>
                <a:uFillTx/>
                <a:latin typeface="Cormorant Garamond SemiBold"/>
                <a:ea typeface="Cormorant Garamond SemiBold"/>
              </a:rPr>
              <a:t>sys</a:t>
            </a:r>
            <a:r>
              <a:rPr lang="en-US" sz="3000" b="0" u="none" spc="-45" strike="noStrike">
                <a:solidFill>
                  <a:srgbClr val="420C1C"/>
                </a:solidFill>
                <a:effectLst/>
                <a:uFillTx/>
                <a:latin typeface="Cormorant Garamond SemiBold"/>
                <a:ea typeface="Cormorant Garamond SemiBold"/>
              </a:rPr>
              <a:t>te</a:t>
            </a:r>
            <a:r>
              <a:rPr lang="en-US" sz="3000" b="0" u="none" spc="-45" strike="noStrike">
                <a:solidFill>
                  <a:srgbClr val="420C1C"/>
                </a:solidFill>
                <a:effectLst/>
                <a:uFillTx/>
                <a:latin typeface="Cormorant Garamond SemiBold"/>
                <a:ea typeface="Cormorant Garamond SemiBold"/>
              </a:rPr>
              <a:t>ms </a:t>
            </a:r>
            <a:r>
              <a:rPr lang="en-US" sz="3000" b="0" u="none" spc="-45" strike="noStrike">
                <a:solidFill>
                  <a:srgbClr val="420C1C"/>
                </a:solidFill>
                <a:effectLst/>
                <a:uFillTx/>
                <a:latin typeface="Cormorant Garamond SemiBold"/>
                <a:ea typeface="Cormorant Garamond SemiBold"/>
              </a:rPr>
              <a:t>are </a:t>
            </a:r>
            <a:r>
              <a:rPr lang="en-US" sz="3000" b="0" u="none" spc="-45" strike="noStrike">
                <a:solidFill>
                  <a:srgbClr val="420C1C"/>
                </a:solidFill>
                <a:effectLst/>
                <a:uFillTx/>
                <a:latin typeface="Cormorant Garamond SemiBold"/>
                <a:ea typeface="Cormorant Garamond SemiBold"/>
              </a:rPr>
              <a:t>for</a:t>
            </a:r>
            <a:r>
              <a:rPr lang="en-US" sz="3000" b="0" u="none" spc="-45" strike="noStrike">
                <a:solidFill>
                  <a:srgbClr val="420C1C"/>
                </a:solidFill>
                <a:effectLst/>
                <a:uFillTx/>
                <a:latin typeface="Cormorant Garamond SemiBold"/>
                <a:ea typeface="Cormorant Garamond SemiBold"/>
              </a:rPr>
              <a:t>gea</a:t>
            </a:r>
            <a:r>
              <a:rPr lang="en-US" sz="3000" b="0" u="none" spc="-45" strike="noStrike">
                <a:solidFill>
                  <a:srgbClr val="420C1C"/>
                </a:solidFill>
                <a:effectLst/>
                <a:uFillTx/>
                <a:latin typeface="Cormorant Garamond SemiBold"/>
                <a:ea typeface="Cormorant Garamond SemiBold"/>
              </a:rPr>
              <a:t>ble</a:t>
            </a:r>
            <a:r>
              <a:rPr lang="en-US" sz="3000" b="0" u="none" spc="-45" strike="noStrike">
                <a:solidFill>
                  <a:srgbClr val="420C1C"/>
                </a:solidFill>
                <a:effectLst/>
                <a:uFillTx/>
                <a:latin typeface="Cormorant Garamond SemiBold"/>
                <a:ea typeface="Cormorant Garamond SemiBold"/>
              </a:rPr>
              <a:t>, </a:t>
            </a:r>
            <a:r>
              <a:rPr lang="en-US" sz="3000" b="0" u="none" spc="-45" strike="noStrike">
                <a:solidFill>
                  <a:srgbClr val="420C1C"/>
                </a:solidFill>
                <a:effectLst/>
                <a:uFillTx/>
                <a:latin typeface="Cormorant Garamond SemiBold"/>
                <a:ea typeface="Cormorant Garamond SemiBold"/>
              </a:rPr>
              <a:t>edi</a:t>
            </a:r>
            <a:r>
              <a:rPr lang="en-US" sz="3000" b="0" u="none" spc="-45" strike="noStrike">
                <a:solidFill>
                  <a:srgbClr val="420C1C"/>
                </a:solidFill>
                <a:effectLst/>
                <a:uFillTx/>
                <a:latin typeface="Cormorant Garamond SemiBold"/>
                <a:ea typeface="Cormorant Garamond SemiBold"/>
              </a:rPr>
              <a:t>tab</a:t>
            </a:r>
            <a:r>
              <a:rPr lang="en-US" sz="3000" b="0" u="none" spc="-45" strike="noStrike">
                <a:solidFill>
                  <a:srgbClr val="420C1C"/>
                </a:solidFill>
                <a:effectLst/>
                <a:uFillTx/>
                <a:latin typeface="Cormorant Garamond SemiBold"/>
                <a:ea typeface="Cormorant Garamond SemiBold"/>
              </a:rPr>
              <a:t>le </a:t>
            </a:r>
            <a:r>
              <a:rPr lang="en-US" sz="3000" b="0" u="none" spc="-45" strike="noStrike">
                <a:solidFill>
                  <a:srgbClr val="420C1C"/>
                </a:solidFill>
                <a:effectLst/>
                <a:uFillTx/>
                <a:latin typeface="Cormorant Garamond SemiBold"/>
                <a:ea typeface="Cormorant Garamond SemiBold"/>
              </a:rPr>
              <a:t>or </a:t>
            </a:r>
            <a:r>
              <a:rPr lang="en-US" sz="3000" b="0" u="none" spc="-45" strike="noStrike">
                <a:solidFill>
                  <a:srgbClr val="420C1C"/>
                </a:solidFill>
                <a:effectLst/>
                <a:uFillTx/>
                <a:latin typeface="Cormorant Garamond SemiBold"/>
                <a:ea typeface="Cormorant Garamond SemiBold"/>
              </a:rPr>
              <a:t>to</a:t>
            </a:r>
            <a:r>
              <a:rPr lang="en-US" sz="3000" b="0" u="none" spc="-45" strike="noStrike">
                <a:solidFill>
                  <a:srgbClr val="420C1C"/>
                </a:solidFill>
                <a:effectLst/>
                <a:uFillTx/>
                <a:latin typeface="Cormorant Garamond SemiBold"/>
                <a:ea typeface="Cormorant Garamond SemiBold"/>
              </a:rPr>
              <a:t>o </a:t>
            </a:r>
            <a:r>
              <a:rPr lang="en-US" sz="3000" b="0" u="none" spc="-45" strike="noStrike">
                <a:solidFill>
                  <a:srgbClr val="420C1C"/>
                </a:solidFill>
                <a:effectLst/>
                <a:uFillTx/>
                <a:latin typeface="Cormorant Garamond SemiBold"/>
                <a:ea typeface="Cormorant Garamond SemiBold"/>
              </a:rPr>
              <a:t>he</a:t>
            </a:r>
            <a:r>
              <a:rPr lang="en-US" sz="3000" b="0" u="none" spc="-45" strike="noStrike">
                <a:solidFill>
                  <a:srgbClr val="420C1C"/>
                </a:solidFill>
                <a:effectLst/>
                <a:uFillTx/>
                <a:latin typeface="Cormorant Garamond SemiBold"/>
                <a:ea typeface="Cormorant Garamond SemiBold"/>
              </a:rPr>
              <a:t>avy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5" name="Table 0"/>
          <p:cNvGraphicFramePr/>
          <p:nvPr/>
        </p:nvGraphicFramePr>
        <p:xfrm>
          <a:off x="812880" y="1495440"/>
          <a:ext cx="10565640" cy="3458880"/>
        </p:xfrm>
        <a:graphic>
          <a:graphicData uri="http://schemas.openxmlformats.org/drawingml/2006/table">
            <a:tbl>
              <a:tblPr/>
              <a:tblGrid>
                <a:gridCol w="3592080"/>
                <a:gridCol w="6973560"/>
              </a:tblGrid>
              <a:tr h="511560">
                <a:tc>
                  <a:txBody>
                    <a:bodyPr lIns="152280" tIns="101520" rIns="152280" bIns="1015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700" b="0" u="none" strike="noStrike">
                          <a:solidFill>
                            <a:srgbClr val="420C1C"/>
                          </a:solidFill>
                          <a:effectLst/>
                          <a:uFillTx/>
                          <a:latin typeface="Figtree"/>
                          <a:ea typeface="Figtree"/>
                        </a:rPr>
                        <a:t>Existing approach</a:t>
                      </a:r>
                      <a:endParaRPr lang="en-US" sz="17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52280" marR="152280" marT="101520" marB="101520">
                    <a:lnL w="12240">
                      <a:solidFill>
                        <a:srgbClr val="FFFCF7"/>
                      </a:solidFill>
                      <a:prstDash val="solid"/>
                    </a:lnL>
                    <a:lnR w="12240">
                      <a:solidFill>
                        <a:srgbClr val="FFFCF7"/>
                      </a:solidFill>
                      <a:prstDash val="solid"/>
                    </a:lnR>
                    <a:lnT w="12240">
                      <a:solidFill>
                        <a:srgbClr val="FFFCF7"/>
                      </a:solidFill>
                      <a:prstDash val="solid"/>
                    </a:lnT>
                    <a:lnB w="12240">
                      <a:solidFill>
                        <a:srgbClr val="E2D3C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52280" tIns="101520" rIns="152280" bIns="1015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700" b="0" u="none" strike="noStrike">
                          <a:solidFill>
                            <a:srgbClr val="420C1C"/>
                          </a:solidFill>
                          <a:effectLst/>
                          <a:uFillTx/>
                          <a:latin typeface="Figtree"/>
                          <a:ea typeface="Figtree"/>
                        </a:rPr>
                        <a:t>Limitation</a:t>
                      </a:r>
                      <a:endParaRPr lang="en-US" sz="17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52280" marR="152280" marT="101520" marB="101520">
                    <a:lnL w="12240">
                      <a:solidFill>
                        <a:srgbClr val="FFFCF7"/>
                      </a:solidFill>
                      <a:prstDash val="solid"/>
                    </a:lnL>
                    <a:lnR w="12240">
                      <a:solidFill>
                        <a:srgbClr val="FFFCF7"/>
                      </a:solidFill>
                      <a:prstDash val="solid"/>
                    </a:lnR>
                    <a:lnT w="12240">
                      <a:solidFill>
                        <a:srgbClr val="FFFCF7"/>
                      </a:solidFill>
                      <a:prstDash val="solid"/>
                    </a:lnT>
                    <a:lnB w="12240">
                      <a:solidFill>
                        <a:srgbClr val="E2D3CE"/>
                      </a:solidFill>
                      <a:prstDash val="solid"/>
                    </a:lnB>
                    <a:noFill/>
                  </a:tcPr>
                </a:tc>
              </a:tr>
              <a:tr h="813960">
                <a:tc>
                  <a:txBody>
                    <a:bodyPr lIns="152280" tIns="101520" rIns="152280" bIns="1015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700" b="1" u="none" strike="noStrike">
                          <a:solidFill>
                            <a:srgbClr val="420C1C"/>
                          </a:solidFill>
                          <a:effectLst/>
                          <a:uFillTx/>
                          <a:latin typeface="Figtree"/>
                          <a:ea typeface="Figtree"/>
                        </a:rPr>
                        <a:t>Paper certificates, receipts, hallmarks</a:t>
                      </a:r>
                      <a:endParaRPr lang="en-US" sz="17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52280" marR="152280" marT="101520" marB="101520">
                    <a:lnL w="12240">
                      <a:solidFill>
                        <a:srgbClr val="FFFCF7"/>
                      </a:solidFill>
                      <a:prstDash val="solid"/>
                    </a:lnL>
                    <a:lnR w="12240">
                      <a:solidFill>
                        <a:srgbClr val="FFFCF7"/>
                      </a:solidFill>
                      <a:prstDash val="solid"/>
                    </a:lnR>
                    <a:lnT w="12240">
                      <a:solidFill>
                        <a:srgbClr val="E2D3CE"/>
                      </a:solidFill>
                      <a:prstDash val="solid"/>
                    </a:lnT>
                    <a:lnB w="12240">
                      <a:solidFill>
                        <a:srgbClr val="E2D3C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52280" tIns="101520" rIns="152280" bIns="1015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700" b="0" u="none" strike="noStrike">
                          <a:solidFill>
                            <a:srgbClr val="420C1C"/>
                          </a:solidFill>
                          <a:effectLst/>
                          <a:uFillTx/>
                          <a:latin typeface="Figtree"/>
                          <a:ea typeface="Figtree"/>
                        </a:rPr>
                        <a:t>Forgeable, copyable, easily lost; no history after first sale</a:t>
                      </a:r>
                      <a:endParaRPr lang="en-US" sz="17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52280" marR="152280" marT="101520" marB="101520">
                    <a:lnL w="12240">
                      <a:solidFill>
                        <a:srgbClr val="FFFCF7"/>
                      </a:solidFill>
                      <a:prstDash val="solid"/>
                    </a:lnL>
                    <a:lnR w="12240">
                      <a:solidFill>
                        <a:srgbClr val="FFFCF7"/>
                      </a:solidFill>
                      <a:prstDash val="solid"/>
                    </a:lnR>
                    <a:lnT w="12240">
                      <a:solidFill>
                        <a:srgbClr val="E2D3CE"/>
                      </a:solidFill>
                      <a:prstDash val="solid"/>
                    </a:lnT>
                    <a:lnB w="12240">
                      <a:solidFill>
                        <a:srgbClr val="E2D3CE"/>
                      </a:solidFill>
                      <a:prstDash val="solid"/>
                    </a:lnB>
                    <a:noFill/>
                  </a:tcPr>
                </a:tc>
              </a:tr>
              <a:tr h="813960">
                <a:tc>
                  <a:txBody>
                    <a:bodyPr lIns="152280" tIns="101520" rIns="152280" bIns="1015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700" b="1" u="none" strike="noStrike">
                          <a:solidFill>
                            <a:srgbClr val="420C1C"/>
                          </a:solidFill>
                          <a:effectLst/>
                          <a:uFillTx/>
                          <a:latin typeface="Figtree"/>
                          <a:ea typeface="Figtree"/>
                        </a:rPr>
                        <a:t>Seller-run database or spreadsheet</a:t>
                      </a:r>
                      <a:endParaRPr lang="en-US" sz="17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52280" marR="152280" marT="101520" marB="101520">
                    <a:lnL w="12240">
                      <a:solidFill>
                        <a:srgbClr val="FFFCF7"/>
                      </a:solidFill>
                      <a:prstDash val="solid"/>
                    </a:lnL>
                    <a:lnR w="12240">
                      <a:solidFill>
                        <a:srgbClr val="FFFCF7"/>
                      </a:solidFill>
                      <a:prstDash val="solid"/>
                    </a:lnR>
                    <a:lnT w="12240">
                      <a:solidFill>
                        <a:srgbClr val="E2D3CE"/>
                      </a:solidFill>
                      <a:prstDash val="solid"/>
                    </a:lnT>
                    <a:lnB w="12240">
                      <a:solidFill>
                        <a:srgbClr val="E2D3C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52280" tIns="101520" rIns="152280" bIns="1015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700" b="0" u="none" strike="noStrike">
                          <a:solidFill>
                            <a:srgbClr val="420C1C"/>
                          </a:solidFill>
                          <a:effectLst/>
                          <a:uFillTx/>
                          <a:latin typeface="Figtree"/>
                          <a:ea typeface="Figtree"/>
                        </a:rPr>
                        <a:t>Records can be silently edited; buyer must trust the seller</a:t>
                      </a:r>
                      <a:endParaRPr lang="en-US" sz="17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52280" marR="152280" marT="101520" marB="101520">
                    <a:lnL w="12240">
                      <a:solidFill>
                        <a:srgbClr val="FFFCF7"/>
                      </a:solidFill>
                      <a:prstDash val="solid"/>
                    </a:lnL>
                    <a:lnR w="12240">
                      <a:solidFill>
                        <a:srgbClr val="FFFCF7"/>
                      </a:solidFill>
                      <a:prstDash val="solid"/>
                    </a:lnR>
                    <a:lnT w="12240">
                      <a:solidFill>
                        <a:srgbClr val="E2D3CE"/>
                      </a:solidFill>
                      <a:prstDash val="solid"/>
                    </a:lnT>
                    <a:lnB w="12240">
                      <a:solidFill>
                        <a:srgbClr val="E2D3CE"/>
                      </a:solidFill>
                      <a:prstDash val="solid"/>
                    </a:lnB>
                    <a:noFill/>
                  </a:tcPr>
                </a:tc>
              </a:tr>
              <a:tr h="813960">
                <a:tc>
                  <a:txBody>
                    <a:bodyPr lIns="152280" tIns="101520" rIns="152280" bIns="1015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700" b="1" u="none" strike="noStrike">
                          <a:solidFill>
                            <a:srgbClr val="420C1C"/>
                          </a:solidFill>
                          <a:effectLst/>
                          <a:uFillTx/>
                          <a:latin typeface="Figtree"/>
                          <a:ea typeface="Figtree"/>
                        </a:rPr>
                        <a:t>Blockchain / NFT provenance</a:t>
                      </a:r>
                      <a:endParaRPr lang="en-US" sz="17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52280" marR="152280" marT="101520" marB="101520">
                    <a:lnL w="12240">
                      <a:solidFill>
                        <a:srgbClr val="FFFCF7"/>
                      </a:solidFill>
                      <a:prstDash val="solid"/>
                    </a:lnL>
                    <a:lnR w="12240">
                      <a:solidFill>
                        <a:srgbClr val="FFFCF7"/>
                      </a:solidFill>
                      <a:prstDash val="solid"/>
                    </a:lnR>
                    <a:lnT w="12240">
                      <a:solidFill>
                        <a:srgbClr val="E2D3CE"/>
                      </a:solidFill>
                      <a:prstDash val="solid"/>
                    </a:lnT>
                    <a:lnB w="12240">
                      <a:solidFill>
                        <a:srgbClr val="E2D3C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52280" tIns="101520" rIns="152280" bIns="1015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700" b="0" u="none" strike="noStrike">
                          <a:solidFill>
                            <a:srgbClr val="420C1C"/>
                          </a:solidFill>
                          <a:effectLst/>
                          <a:uFillTx/>
                          <a:latin typeface="Figtree"/>
                          <a:ea typeface="Figtree"/>
                        </a:rPr>
                        <a:t>Wallets, gas fees and key management; jargon-heavy; everyone needs an account</a:t>
                      </a:r>
                      <a:endParaRPr lang="en-US" sz="17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52280" marR="152280" marT="101520" marB="101520">
                    <a:lnL w="12240">
                      <a:solidFill>
                        <a:srgbClr val="FFFCF7"/>
                      </a:solidFill>
                      <a:prstDash val="solid"/>
                    </a:lnL>
                    <a:lnR w="12240">
                      <a:solidFill>
                        <a:srgbClr val="FFFCF7"/>
                      </a:solidFill>
                      <a:prstDash val="solid"/>
                    </a:lnR>
                    <a:lnT w="12240">
                      <a:solidFill>
                        <a:srgbClr val="E2D3CE"/>
                      </a:solidFill>
                      <a:prstDash val="solid"/>
                    </a:lnT>
                    <a:lnB w="12240">
                      <a:solidFill>
                        <a:srgbClr val="E2D3CE"/>
                      </a:solidFill>
                      <a:prstDash val="solid"/>
                    </a:lnB>
                    <a:noFill/>
                  </a:tcPr>
                </a:tc>
              </a:tr>
              <a:tr h="505080">
                <a:tc>
                  <a:txBody>
                    <a:bodyPr lIns="152280" tIns="101520" rIns="152280" bIns="1015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700" b="1" u="none" strike="noStrike">
                          <a:solidFill>
                            <a:srgbClr val="420C1C"/>
                          </a:solidFill>
                          <a:effectLst/>
                          <a:uFillTx/>
                          <a:latin typeface="Figtree"/>
                          <a:ea typeface="Figtree"/>
                        </a:rPr>
                        <a:t>Serial numbers / QR codes alone</a:t>
                      </a:r>
                      <a:endParaRPr lang="en-US" sz="17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52280" marR="152280" marT="101520" marB="101520">
                    <a:lnL w="12240">
                      <a:solidFill>
                        <a:srgbClr val="FFFCF7"/>
                      </a:solidFill>
                      <a:prstDash val="solid"/>
                    </a:lnL>
                    <a:lnR w="12240">
                      <a:solidFill>
                        <a:srgbClr val="FFFCF7"/>
                      </a:solidFill>
                      <a:prstDash val="solid"/>
                    </a:lnR>
                    <a:lnT w="12240">
                      <a:solidFill>
                        <a:srgbClr val="E2D3CE"/>
                      </a:solidFill>
                      <a:prstDash val="solid"/>
                    </a:lnT>
                    <a:lnB w="12240">
                      <a:solidFill>
                        <a:srgbClr val="FFFCF7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52280" tIns="101520" rIns="152280" bIns="1015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700" b="0" u="none" strike="noStrike">
                          <a:solidFill>
                            <a:srgbClr val="420C1C"/>
                          </a:solidFill>
                          <a:effectLst/>
                          <a:uFillTx/>
                          <a:latin typeface="Figtree"/>
                          <a:ea typeface="Figtree"/>
                        </a:rPr>
                        <a:t>A QR is a cloneable link; says nothing about altered history</a:t>
                      </a:r>
                      <a:endParaRPr lang="en-US" sz="17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52280" marR="152280" marT="101520" marB="101520">
                    <a:lnL w="12240">
                      <a:solidFill>
                        <a:srgbClr val="FFFCF7"/>
                      </a:solidFill>
                      <a:prstDash val="solid"/>
                    </a:lnL>
                    <a:lnR w="12240">
                      <a:solidFill>
                        <a:srgbClr val="FFFCF7"/>
                      </a:solidFill>
                      <a:prstDash val="solid"/>
                    </a:lnR>
                    <a:lnT w="12240">
                      <a:solidFill>
                        <a:srgbClr val="E2D3CE"/>
                      </a:solidFill>
                      <a:prstDash val="solid"/>
                    </a:lnT>
                    <a:lnB w="12240">
                      <a:solidFill>
                        <a:srgbClr val="FFFCF7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6" name="Shape 1"/>
          <p:cNvSpPr/>
          <p:nvPr/>
        </p:nvSpPr>
        <p:spPr>
          <a:xfrm>
            <a:off x="812880" y="5261040"/>
            <a:ext cx="10565640" cy="31320"/>
          </a:xfrm>
          <a:prstGeom prst="roundRect">
            <a:avLst>
              <a:gd name="adj" fmla="val 49998"/>
            </a:avLst>
          </a:prstGeom>
          <a:solidFill>
            <a:srgbClr val="E2D3C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22320" rIns="90000" bIns="-2232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Text 2"/>
          <p:cNvSpPr/>
          <p:nvPr/>
        </p:nvSpPr>
        <p:spPr>
          <a:xfrm>
            <a:off x="812880" y="5602680"/>
            <a:ext cx="10565640" cy="42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8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7A5C60"/>
                </a:solidFill>
                <a:effectLst/>
                <a:uFillTx/>
                <a:latin typeface="Figtree"/>
                <a:ea typeface="Figtree"/>
              </a:rPr>
              <a:t>Resea</a:t>
            </a:r>
            <a:r>
              <a:rPr lang="en-US" sz="1300" b="0" u="none" strike="noStrike">
                <a:solidFill>
                  <a:srgbClr val="7A5C60"/>
                </a:solidFill>
                <a:effectLst/>
                <a:uFillTx/>
                <a:latin typeface="Figtree"/>
                <a:ea typeface="Figtree"/>
              </a:rPr>
              <a:t>rch </a:t>
            </a:r>
            <a:r>
              <a:rPr lang="en-US" sz="1300" b="0" u="none" strike="noStrike">
                <a:solidFill>
                  <a:srgbClr val="7A5C60"/>
                </a:solidFill>
                <a:effectLst/>
                <a:uFillTx/>
                <a:latin typeface="Figtree"/>
                <a:ea typeface="Figtree"/>
              </a:rPr>
              <a:t>gap: </a:t>
            </a:r>
            <a:r>
              <a:rPr lang="en-US" sz="1300" b="0" u="none" strike="noStrike">
                <a:solidFill>
                  <a:srgbClr val="7A5C60"/>
                </a:solidFill>
                <a:effectLst/>
                <a:uFillTx/>
                <a:latin typeface="Figtree"/>
                <a:ea typeface="Figtree"/>
              </a:rPr>
              <a:t>tampe</a:t>
            </a:r>
            <a:r>
              <a:rPr lang="en-US" sz="1300" b="0" u="none" strike="noStrike">
                <a:solidFill>
                  <a:srgbClr val="7A5C60"/>
                </a:solidFill>
                <a:effectLst/>
                <a:uFillTx/>
                <a:latin typeface="Figtree"/>
                <a:ea typeface="Figtree"/>
              </a:rPr>
              <a:t>r-</a:t>
            </a:r>
            <a:r>
              <a:rPr lang="en-US" sz="1300" b="0" u="none" strike="noStrike">
                <a:solidFill>
                  <a:srgbClr val="7A5C60"/>
                </a:solidFill>
                <a:effectLst/>
                <a:uFillTx/>
                <a:latin typeface="Figtree"/>
                <a:ea typeface="Figtree"/>
              </a:rPr>
              <a:t>evide</a:t>
            </a:r>
            <a:r>
              <a:rPr lang="en-US" sz="1300" b="0" u="none" strike="noStrike">
                <a:solidFill>
                  <a:srgbClr val="7A5C60"/>
                </a:solidFill>
                <a:effectLst/>
                <a:uFillTx/>
                <a:latin typeface="Figtree"/>
                <a:ea typeface="Figtree"/>
              </a:rPr>
              <a:t>nt </a:t>
            </a:r>
            <a:r>
              <a:rPr lang="en-US" sz="1300" b="0" u="none" strike="noStrike">
                <a:solidFill>
                  <a:srgbClr val="7A5C60"/>
                </a:solidFill>
                <a:effectLst/>
                <a:uFillTx/>
                <a:latin typeface="Figtree"/>
                <a:ea typeface="Figtree"/>
              </a:rPr>
              <a:t>witho</a:t>
            </a:r>
            <a:r>
              <a:rPr lang="en-US" sz="1300" b="0" u="none" strike="noStrike">
                <a:solidFill>
                  <a:srgbClr val="7A5C60"/>
                </a:solidFill>
                <a:effectLst/>
                <a:uFillTx/>
                <a:latin typeface="Figtree"/>
                <a:ea typeface="Figtree"/>
              </a:rPr>
              <a:t>ut </a:t>
            </a:r>
            <a:r>
              <a:rPr lang="en-US" sz="1300" b="0" u="none" strike="noStrike">
                <a:solidFill>
                  <a:srgbClr val="7A5C60"/>
                </a:solidFill>
                <a:effectLst/>
                <a:uFillTx/>
                <a:latin typeface="Figtree"/>
                <a:ea typeface="Figtree"/>
              </a:rPr>
              <a:t>blockc</a:t>
            </a:r>
            <a:r>
              <a:rPr lang="en-US" sz="1300" b="0" u="none" strike="noStrike">
                <a:solidFill>
                  <a:srgbClr val="7A5C60"/>
                </a:solidFill>
                <a:effectLst/>
                <a:uFillTx/>
                <a:latin typeface="Figtree"/>
                <a:ea typeface="Figtree"/>
              </a:rPr>
              <a:t>hain </a:t>
            </a:r>
            <a:r>
              <a:rPr lang="en-US" sz="1300" b="0" u="none" strike="noStrike">
                <a:solidFill>
                  <a:srgbClr val="7A5C60"/>
                </a:solidFill>
                <a:effectLst/>
                <a:uFillTx/>
                <a:latin typeface="Figtree"/>
                <a:ea typeface="Figtree"/>
              </a:rPr>
              <a:t>compl</a:t>
            </a:r>
            <a:r>
              <a:rPr lang="en-US" sz="1300" b="0" u="none" strike="noStrike">
                <a:solidFill>
                  <a:srgbClr val="7A5C60"/>
                </a:solidFill>
                <a:effectLst/>
                <a:uFillTx/>
                <a:latin typeface="Figtree"/>
                <a:ea typeface="Figtree"/>
              </a:rPr>
              <a:t>exity; </a:t>
            </a:r>
            <a:r>
              <a:rPr lang="en-US" sz="1300" b="0" u="none" strike="noStrike">
                <a:solidFill>
                  <a:srgbClr val="7A5C60"/>
                </a:solidFill>
                <a:effectLst/>
                <a:uFillTx/>
                <a:latin typeface="Figtree"/>
                <a:ea typeface="Figtree"/>
              </a:rPr>
              <a:t>no </a:t>
            </a:r>
            <a:r>
              <a:rPr lang="en-US" sz="1300" b="0" u="none" strike="noStrike">
                <a:solidFill>
                  <a:srgbClr val="7A5C60"/>
                </a:solidFill>
                <a:effectLst/>
                <a:uFillTx/>
                <a:latin typeface="Figtree"/>
                <a:ea typeface="Figtree"/>
              </a:rPr>
              <a:t>buyer </a:t>
            </a:r>
            <a:r>
              <a:rPr lang="en-US" sz="1300" b="0" u="none" strike="noStrike">
                <a:solidFill>
                  <a:srgbClr val="7A5C60"/>
                </a:solidFill>
                <a:effectLst/>
                <a:uFillTx/>
                <a:latin typeface="Figtree"/>
                <a:ea typeface="Figtree"/>
              </a:rPr>
              <a:t>accou</a:t>
            </a:r>
            <a:r>
              <a:rPr lang="en-US" sz="1300" b="0" u="none" strike="noStrike">
                <a:solidFill>
                  <a:srgbClr val="7A5C60"/>
                </a:solidFill>
                <a:effectLst/>
                <a:uFillTx/>
                <a:latin typeface="Figtree"/>
                <a:ea typeface="Figtree"/>
              </a:rPr>
              <a:t>nt; </a:t>
            </a:r>
            <a:r>
              <a:rPr lang="en-US" sz="1300" b="0" u="none" strike="noStrike">
                <a:solidFill>
                  <a:srgbClr val="7A5C60"/>
                </a:solidFill>
                <a:effectLst/>
                <a:uFillTx/>
                <a:latin typeface="Figtree"/>
                <a:ea typeface="Figtree"/>
              </a:rPr>
              <a:t>operat</a:t>
            </a:r>
            <a:r>
              <a:rPr lang="en-US" sz="1300" b="0" u="none" strike="noStrike">
                <a:solidFill>
                  <a:srgbClr val="7A5C60"/>
                </a:solidFill>
                <a:effectLst/>
                <a:uFillTx/>
                <a:latin typeface="Figtree"/>
                <a:ea typeface="Figtree"/>
              </a:rPr>
              <a:t>or is </a:t>
            </a:r>
            <a:r>
              <a:rPr lang="en-US" sz="1300" b="0" u="none" strike="noStrike">
                <a:solidFill>
                  <a:srgbClr val="7A5C60"/>
                </a:solidFill>
                <a:effectLst/>
                <a:uFillTx/>
                <a:latin typeface="Figtree"/>
                <a:ea typeface="Figtree"/>
              </a:rPr>
              <a:t>check</a:t>
            </a:r>
            <a:r>
              <a:rPr lang="en-US" sz="1300" b="0" u="none" strike="noStrike">
                <a:solidFill>
                  <a:srgbClr val="7A5C60"/>
                </a:solidFill>
                <a:effectLst/>
                <a:uFillTx/>
                <a:latin typeface="Figtree"/>
                <a:ea typeface="Figtree"/>
              </a:rPr>
              <a:t>able; </a:t>
            </a:r>
            <a:r>
              <a:rPr lang="en-US" sz="1300" b="0" u="none" strike="noStrike">
                <a:solidFill>
                  <a:srgbClr val="7A5C60"/>
                </a:solidFill>
                <a:effectLst/>
                <a:uFillTx/>
                <a:latin typeface="Figtree"/>
                <a:ea typeface="Figtree"/>
              </a:rPr>
              <a:t>pinpoi</a:t>
            </a:r>
            <a:r>
              <a:rPr lang="en-US" sz="1300" b="0" u="none" strike="noStrike">
                <a:solidFill>
                  <a:srgbClr val="7A5C60"/>
                </a:solidFill>
                <a:effectLst/>
                <a:uFillTx/>
                <a:latin typeface="Figtree"/>
                <a:ea typeface="Figtree"/>
              </a:rPr>
              <a:t>nts </a:t>
            </a:r>
            <a:r>
              <a:rPr lang="en-US" sz="1300" b="0" u="none" strike="noStrike">
                <a:solidFill>
                  <a:srgbClr val="7A5C60"/>
                </a:solidFill>
                <a:effectLst/>
                <a:uFillTx/>
                <a:latin typeface="Figtree"/>
                <a:ea typeface="Figtree"/>
              </a:rPr>
              <a:t>which </a:t>
            </a:r>
            <a:r>
              <a:rPr lang="en-US" sz="1300" b="0" u="none" strike="noStrike">
                <a:solidFill>
                  <a:srgbClr val="7A5C60"/>
                </a:solidFill>
                <a:effectLst/>
                <a:uFillTx/>
                <a:latin typeface="Figtree"/>
                <a:ea typeface="Figtree"/>
              </a:rPr>
              <a:t>step </a:t>
            </a:r>
            <a:r>
              <a:rPr lang="en-US" sz="1300" b="0" u="none" strike="noStrike">
                <a:solidFill>
                  <a:srgbClr val="7A5C60"/>
                </a:solidFill>
                <a:effectLst/>
                <a:uFillTx/>
                <a:latin typeface="Figtree"/>
                <a:ea typeface="Figtree"/>
              </a:rPr>
              <a:t>was </a:t>
            </a:r>
            <a:r>
              <a:rPr lang="en-US" sz="1300" b="0" u="none" strike="noStrike">
                <a:solidFill>
                  <a:srgbClr val="7A5C60"/>
                </a:solidFill>
                <a:effectLst/>
                <a:uFillTx/>
                <a:latin typeface="Figtree"/>
                <a:ea typeface="Figtree"/>
              </a:rPr>
              <a:t>tampe</a:t>
            </a:r>
            <a:r>
              <a:rPr lang="en-US" sz="1300" b="0" u="none" strike="noStrike">
                <a:solidFill>
                  <a:srgbClr val="7A5C60"/>
                </a:solidFill>
                <a:effectLst/>
                <a:uFillTx/>
                <a:latin typeface="Figtree"/>
                <a:ea typeface="Figtree"/>
              </a:rPr>
              <a:t>red </a:t>
            </a:r>
            <a:r>
              <a:rPr lang="en-US" sz="1300" b="0" u="none" strike="noStrike">
                <a:solidFill>
                  <a:srgbClr val="7A5C60"/>
                </a:solidFill>
                <a:effectLst/>
                <a:uFillTx/>
                <a:latin typeface="Figtree"/>
                <a:ea typeface="Figtree"/>
              </a:rPr>
              <a:t>with. </a:t>
            </a:r>
            <a:r>
              <a:rPr lang="en-US" sz="1300" b="0" u="none" strike="noStrike">
                <a:solidFill>
                  <a:srgbClr val="7A5C60"/>
                </a:solidFill>
                <a:effectLst/>
                <a:uFillTx/>
                <a:latin typeface="Figtree"/>
                <a:ea typeface="Figtree"/>
              </a:rPr>
              <a:t>Gener</a:t>
            </a:r>
            <a:r>
              <a:rPr lang="en-US" sz="1300" b="0" u="none" strike="noStrike">
                <a:solidFill>
                  <a:srgbClr val="7A5C60"/>
                </a:solidFill>
                <a:effectLst/>
                <a:uFillTx/>
                <a:latin typeface="Figtree"/>
                <a:ea typeface="Figtree"/>
              </a:rPr>
              <a:t>al </a:t>
            </a:r>
            <a:r>
              <a:rPr lang="en-US" sz="1300" b="0" u="none" strike="noStrike">
                <a:solidFill>
                  <a:srgbClr val="7A5C60"/>
                </a:solidFill>
                <a:effectLst/>
                <a:uFillTx/>
                <a:latin typeface="Figtree"/>
                <a:ea typeface="Figtree"/>
              </a:rPr>
              <a:t>domai</a:t>
            </a:r>
            <a:r>
              <a:rPr lang="en-US" sz="1300" b="0" u="none" strike="noStrike">
                <a:solidFill>
                  <a:srgbClr val="7A5C60"/>
                </a:solidFill>
                <a:effectLst/>
                <a:uFillTx/>
                <a:latin typeface="Figtree"/>
                <a:ea typeface="Figtree"/>
              </a:rPr>
              <a:t>n </a:t>
            </a:r>
            <a:r>
              <a:rPr lang="en-US" sz="1300" b="0" u="none" strike="noStrike">
                <a:solidFill>
                  <a:srgbClr val="7A5C60"/>
                </a:solidFill>
                <a:effectLst/>
                <a:uFillTx/>
                <a:latin typeface="Figtree"/>
                <a:ea typeface="Figtree"/>
              </a:rPr>
              <a:t>knowl</a:t>
            </a:r>
            <a:r>
              <a:rPr lang="en-US" sz="1300" b="0" u="none" strike="noStrike">
                <a:solidFill>
                  <a:srgbClr val="7A5C60"/>
                </a:solidFill>
                <a:effectLst/>
                <a:uFillTx/>
                <a:latin typeface="Figtree"/>
                <a:ea typeface="Figtree"/>
              </a:rPr>
              <a:t>edge, </a:t>
            </a:r>
            <a:r>
              <a:rPr lang="en-US" sz="1300" b="0" u="none" strike="noStrike">
                <a:solidFill>
                  <a:srgbClr val="7A5C60"/>
                </a:solidFill>
                <a:effectLst/>
                <a:uFillTx/>
                <a:latin typeface="Figtree"/>
                <a:ea typeface="Figtree"/>
              </a:rPr>
              <a:t>to be </a:t>
            </a:r>
            <a:r>
              <a:rPr lang="en-US" sz="1300" b="0" u="none" strike="noStrike">
                <a:solidFill>
                  <a:srgbClr val="7A5C60"/>
                </a:solidFill>
                <a:effectLst/>
                <a:uFillTx/>
                <a:latin typeface="Figtree"/>
                <a:ea typeface="Figtree"/>
              </a:rPr>
              <a:t>verifie</a:t>
            </a:r>
            <a:r>
              <a:rPr lang="en-US" sz="1300" b="0" u="none" strike="noStrike">
                <a:solidFill>
                  <a:srgbClr val="7A5C60"/>
                </a:solidFill>
                <a:effectLst/>
                <a:uFillTx/>
                <a:latin typeface="Figtree"/>
                <a:ea typeface="Figtree"/>
              </a:rPr>
              <a:t>d with </a:t>
            </a:r>
            <a:r>
              <a:rPr lang="en-US" sz="1300" b="0" u="none" strike="noStrike">
                <a:solidFill>
                  <a:srgbClr val="7A5C60"/>
                </a:solidFill>
                <a:effectLst/>
                <a:uFillTx/>
                <a:latin typeface="Figtree"/>
                <a:ea typeface="Figtree"/>
              </a:rPr>
              <a:t>the </a:t>
            </a:r>
            <a:r>
              <a:rPr lang="en-US" sz="1300" b="0" u="none" strike="noStrike">
                <a:solidFill>
                  <a:srgbClr val="7A5C60"/>
                </a:solidFill>
                <a:effectLst/>
                <a:uFillTx/>
                <a:latin typeface="Figtree"/>
                <a:ea typeface="Figtree"/>
              </a:rPr>
              <a:t>team's </a:t>
            </a:r>
            <a:r>
              <a:rPr lang="en-US" sz="1300" b="0" u="none" strike="noStrike">
                <a:solidFill>
                  <a:srgbClr val="7A5C60"/>
                </a:solidFill>
                <a:effectLst/>
                <a:uFillTx/>
                <a:latin typeface="Figtree"/>
                <a:ea typeface="Figtree"/>
              </a:rPr>
              <a:t>own </a:t>
            </a:r>
            <a:r>
              <a:rPr lang="en-US" sz="1300" b="0" u="none" strike="noStrike">
                <a:solidFill>
                  <a:srgbClr val="7A5C60"/>
                </a:solidFill>
                <a:effectLst/>
                <a:uFillTx/>
                <a:latin typeface="Figtree"/>
                <a:ea typeface="Figtree"/>
              </a:rPr>
              <a:t>literat</a:t>
            </a:r>
            <a:r>
              <a:rPr lang="en-US" sz="1300" b="0" u="none" strike="noStrike">
                <a:solidFill>
                  <a:srgbClr val="7A5C60"/>
                </a:solidFill>
                <a:effectLst/>
                <a:uFillTx/>
                <a:latin typeface="Figtree"/>
                <a:ea typeface="Figtree"/>
              </a:rPr>
              <a:t>ure.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0"/>
          <p:cNvSpPr/>
          <p:nvPr/>
        </p:nvSpPr>
        <p:spPr>
          <a:xfrm>
            <a:off x="812880" y="836640"/>
            <a:ext cx="914328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88000"/>
              </a:lnSpc>
              <a:tabLst>
                <a:tab pos="0" algn="l"/>
              </a:tabLst>
            </a:pPr>
            <a:r>
              <a:rPr lang="en-US" sz="3000" b="0" u="none" spc="-45" strike="noStrike">
                <a:solidFill>
                  <a:srgbClr val="420C1C"/>
                </a:solidFill>
                <a:effectLst/>
                <a:uFillTx/>
                <a:latin typeface="Cormorant Garamond SemiBold"/>
                <a:ea typeface="Cormorant Garamond SemiBold"/>
              </a:rPr>
              <a:t>A </a:t>
            </a:r>
            <a:r>
              <a:rPr lang="en-US" sz="3000" b="0" u="none" spc="-45" strike="noStrike">
                <a:solidFill>
                  <a:srgbClr val="420C1C"/>
                </a:solidFill>
                <a:effectLst/>
                <a:uFillTx/>
                <a:latin typeface="Cormorant Garamond SemiBold"/>
                <a:ea typeface="Cormorant Garamond SemiBold"/>
              </a:rPr>
              <a:t>sig</a:t>
            </a:r>
            <a:r>
              <a:rPr lang="en-US" sz="3000" b="0" u="none" spc="-45" strike="noStrike">
                <a:solidFill>
                  <a:srgbClr val="420C1C"/>
                </a:solidFill>
                <a:effectLst/>
                <a:uFillTx/>
                <a:latin typeface="Cormorant Garamond SemiBold"/>
                <a:ea typeface="Cormorant Garamond SemiBold"/>
              </a:rPr>
              <a:t>ne</a:t>
            </a:r>
            <a:r>
              <a:rPr lang="en-US" sz="3000" b="0" u="none" spc="-45" strike="noStrike">
                <a:solidFill>
                  <a:srgbClr val="420C1C"/>
                </a:solidFill>
                <a:effectLst/>
                <a:uFillTx/>
                <a:latin typeface="Cormorant Garamond SemiBold"/>
                <a:ea typeface="Cormorant Garamond SemiBold"/>
              </a:rPr>
              <a:t>d, </a:t>
            </a:r>
            <a:r>
              <a:rPr lang="en-US" sz="3000" b="0" u="none" spc="-45" strike="noStrike">
                <a:solidFill>
                  <a:srgbClr val="420C1C"/>
                </a:solidFill>
                <a:effectLst/>
                <a:uFillTx/>
                <a:latin typeface="Cormorant Garamond SemiBold"/>
                <a:ea typeface="Cormorant Garamond SemiBold"/>
              </a:rPr>
              <a:t>has</a:t>
            </a:r>
            <a:r>
              <a:rPr lang="en-US" sz="3000" b="0" u="none" spc="-45" strike="noStrike">
                <a:solidFill>
                  <a:srgbClr val="420C1C"/>
                </a:solidFill>
                <a:effectLst/>
                <a:uFillTx/>
                <a:latin typeface="Cormorant Garamond SemiBold"/>
                <a:ea typeface="Cormorant Garamond SemiBold"/>
              </a:rPr>
              <a:t>h-</a:t>
            </a:r>
            <a:r>
              <a:rPr lang="en-US" sz="3000" b="0" u="none" spc="-45" strike="noStrike">
                <a:solidFill>
                  <a:srgbClr val="420C1C"/>
                </a:solidFill>
                <a:effectLst/>
                <a:uFillTx/>
                <a:latin typeface="Cormorant Garamond SemiBold"/>
                <a:ea typeface="Cormorant Garamond SemiBold"/>
              </a:rPr>
              <a:t>ch</a:t>
            </a:r>
            <a:r>
              <a:rPr lang="en-US" sz="3000" b="0" u="none" spc="-45" strike="noStrike">
                <a:solidFill>
                  <a:srgbClr val="420C1C"/>
                </a:solidFill>
                <a:effectLst/>
                <a:uFillTx/>
                <a:latin typeface="Cormorant Garamond SemiBold"/>
                <a:ea typeface="Cormorant Garamond SemiBold"/>
              </a:rPr>
              <a:t>ain</a:t>
            </a:r>
            <a:r>
              <a:rPr lang="en-US" sz="3000" b="0" u="none" spc="-45" strike="noStrike">
                <a:solidFill>
                  <a:srgbClr val="420C1C"/>
                </a:solidFill>
                <a:effectLst/>
                <a:uFillTx/>
                <a:latin typeface="Cormorant Garamond SemiBold"/>
                <a:ea typeface="Cormorant Garamond SemiBold"/>
              </a:rPr>
              <a:t>ed </a:t>
            </a:r>
            <a:r>
              <a:rPr lang="en-US" sz="3000" b="0" u="none" spc="-45" strike="noStrike">
                <a:solidFill>
                  <a:srgbClr val="420C1C"/>
                </a:solidFill>
                <a:effectLst/>
                <a:uFillTx/>
                <a:latin typeface="Cormorant Garamond SemiBold"/>
                <a:ea typeface="Cormorant Garamond SemiBold"/>
              </a:rPr>
              <a:t>cus</a:t>
            </a:r>
            <a:r>
              <a:rPr lang="en-US" sz="3000" b="0" u="none" spc="-45" strike="noStrike">
                <a:solidFill>
                  <a:srgbClr val="420C1C"/>
                </a:solidFill>
                <a:effectLst/>
                <a:uFillTx/>
                <a:latin typeface="Cormorant Garamond SemiBold"/>
                <a:ea typeface="Cormorant Garamond SemiBold"/>
              </a:rPr>
              <a:t>to</a:t>
            </a:r>
            <a:r>
              <a:rPr lang="en-US" sz="3000" b="0" u="none" spc="-45" strike="noStrike">
                <a:solidFill>
                  <a:srgbClr val="420C1C"/>
                </a:solidFill>
                <a:effectLst/>
                <a:uFillTx/>
                <a:latin typeface="Cormorant Garamond SemiBold"/>
                <a:ea typeface="Cormorant Garamond SemiBold"/>
              </a:rPr>
              <a:t>dy </a:t>
            </a:r>
            <a:r>
              <a:rPr lang="en-US" sz="3000" b="0" u="none" spc="-45" strike="noStrike">
                <a:solidFill>
                  <a:srgbClr val="420C1C"/>
                </a:solidFill>
                <a:effectLst/>
                <a:uFillTx/>
                <a:latin typeface="Cormorant Garamond SemiBold"/>
                <a:ea typeface="Cormorant Garamond SemiBold"/>
              </a:rPr>
              <a:t>led</a:t>
            </a:r>
            <a:r>
              <a:rPr lang="en-US" sz="3000" b="0" u="none" spc="-45" strike="noStrike">
                <a:solidFill>
                  <a:srgbClr val="420C1C"/>
                </a:solidFill>
                <a:effectLst/>
                <a:uFillTx/>
                <a:latin typeface="Cormorant Garamond SemiBold"/>
                <a:ea typeface="Cormorant Garamond SemiBold"/>
              </a:rPr>
              <a:t>ger </a:t>
            </a:r>
            <a:r>
              <a:rPr lang="en-US" sz="3000" b="0" u="none" spc="-45" strike="noStrike">
                <a:solidFill>
                  <a:srgbClr val="420C1C"/>
                </a:solidFill>
                <a:effectLst/>
                <a:uFillTx/>
                <a:latin typeface="Cormorant Garamond SemiBold"/>
                <a:ea typeface="Cormorant Garamond SemiBold"/>
              </a:rPr>
              <a:t>an</a:t>
            </a:r>
            <a:r>
              <a:rPr lang="en-US" sz="3000" b="0" u="none" spc="-45" strike="noStrike">
                <a:solidFill>
                  <a:srgbClr val="420C1C"/>
                </a:solidFill>
                <a:effectLst/>
                <a:uFillTx/>
                <a:latin typeface="Cormorant Garamond SemiBold"/>
                <a:ea typeface="Cormorant Garamond SemiBold"/>
              </a:rPr>
              <a:t>yo</a:t>
            </a:r>
            <a:r>
              <a:rPr lang="en-US" sz="3000" b="0" u="none" spc="-45" strike="noStrike">
                <a:solidFill>
                  <a:srgbClr val="420C1C"/>
                </a:solidFill>
                <a:effectLst/>
                <a:uFillTx/>
                <a:latin typeface="Cormorant Garamond SemiBold"/>
                <a:ea typeface="Cormorant Garamond SemiBold"/>
              </a:rPr>
              <a:t>ne </a:t>
            </a:r>
            <a:r>
              <a:rPr lang="en-US" sz="3000" b="0" u="none" spc="-45" strike="noStrike">
                <a:solidFill>
                  <a:srgbClr val="420C1C"/>
                </a:solidFill>
                <a:effectLst/>
                <a:uFillTx/>
                <a:latin typeface="Cormorant Garamond SemiBold"/>
                <a:ea typeface="Cormorant Garamond SemiBold"/>
              </a:rPr>
              <a:t>ca</a:t>
            </a:r>
            <a:r>
              <a:rPr lang="en-US" sz="3000" b="0" u="none" spc="-45" strike="noStrike">
                <a:solidFill>
                  <a:srgbClr val="420C1C"/>
                </a:solidFill>
                <a:effectLst/>
                <a:uFillTx/>
                <a:latin typeface="Cormorant Garamond SemiBold"/>
                <a:ea typeface="Cormorant Garamond SemiBold"/>
              </a:rPr>
              <a:t>n </a:t>
            </a:r>
            <a:r>
              <a:rPr lang="en-US" sz="3000" b="0" u="none" spc="-45" strike="noStrike">
                <a:solidFill>
                  <a:srgbClr val="420C1C"/>
                </a:solidFill>
                <a:effectLst/>
                <a:uFillTx/>
                <a:latin typeface="Cormorant Garamond SemiBold"/>
                <a:ea typeface="Cormorant Garamond SemiBold"/>
              </a:rPr>
              <a:t>ver</a:t>
            </a:r>
            <a:r>
              <a:rPr lang="en-US" sz="3000" b="0" u="none" spc="-45" strike="noStrike">
                <a:solidFill>
                  <a:srgbClr val="420C1C"/>
                </a:solidFill>
                <a:effectLst/>
                <a:uFillTx/>
                <a:latin typeface="Cormorant Garamond SemiBold"/>
                <a:ea typeface="Cormorant Garamond SemiBold"/>
              </a:rPr>
              <a:t>ify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1"/>
          <p:cNvSpPr/>
          <p:nvPr/>
        </p:nvSpPr>
        <p:spPr>
          <a:xfrm>
            <a:off x="812880" y="1499040"/>
            <a:ext cx="11175480" cy="21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8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7A5C60"/>
                </a:solidFill>
                <a:effectLst/>
                <a:uFillTx/>
                <a:latin typeface="Figtree Medium"/>
                <a:ea typeface="Figtree Medium"/>
              </a:rPr>
              <a:t>Regist</a:t>
            </a:r>
            <a:r>
              <a:rPr lang="en-US" sz="1300" b="0" u="none" strike="noStrike">
                <a:solidFill>
                  <a:srgbClr val="7A5C60"/>
                </a:solidFill>
                <a:effectLst/>
                <a:uFillTx/>
                <a:latin typeface="Figtree Medium"/>
                <a:ea typeface="Figtree Medium"/>
              </a:rPr>
              <a:t>er, </a:t>
            </a:r>
            <a:r>
              <a:rPr lang="en-US" sz="1300" b="0" u="none" strike="noStrike">
                <a:solidFill>
                  <a:srgbClr val="7A5C60"/>
                </a:solidFill>
                <a:effectLst/>
                <a:uFillTx/>
                <a:latin typeface="Figtree Medium"/>
                <a:ea typeface="Figtree Medium"/>
              </a:rPr>
              <a:t>Transf</a:t>
            </a:r>
            <a:r>
              <a:rPr lang="en-US" sz="1300" b="0" u="none" strike="noStrike">
                <a:solidFill>
                  <a:srgbClr val="7A5C60"/>
                </a:solidFill>
                <a:effectLst/>
                <a:uFillTx/>
                <a:latin typeface="Figtree Medium"/>
                <a:ea typeface="Figtree Medium"/>
              </a:rPr>
              <a:t>er, </a:t>
            </a:r>
            <a:r>
              <a:rPr lang="en-US" sz="1300" b="0" u="none" strike="noStrike">
                <a:solidFill>
                  <a:srgbClr val="7A5C60"/>
                </a:solidFill>
                <a:effectLst/>
                <a:uFillTx/>
                <a:latin typeface="Figtree Medium"/>
                <a:ea typeface="Figtree Medium"/>
              </a:rPr>
              <a:t>Seal, </a:t>
            </a:r>
            <a:r>
              <a:rPr lang="en-US" sz="1300" b="0" u="none" strike="noStrike">
                <a:solidFill>
                  <a:srgbClr val="7A5C60"/>
                </a:solidFill>
                <a:effectLst/>
                <a:uFillTx/>
                <a:latin typeface="Figtree Medium"/>
                <a:ea typeface="Figtree Medium"/>
              </a:rPr>
              <a:t>Verify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30" name="Table 0"/>
          <p:cNvGraphicFramePr/>
          <p:nvPr/>
        </p:nvGraphicFramePr>
        <p:xfrm>
          <a:off x="812880" y="1964160"/>
          <a:ext cx="10565640" cy="4128840"/>
        </p:xfrm>
        <a:graphic>
          <a:graphicData uri="http://schemas.openxmlformats.org/drawingml/2006/table">
            <a:tbl>
              <a:tblPr/>
              <a:tblGrid>
                <a:gridCol w="10566000"/>
              </a:tblGrid>
              <a:tr h="469440">
                <a:tc>
                  <a:txBody>
                    <a:bodyPr lIns="161640" tIns="86040" rIns="161640" bIns="8604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420C1C"/>
                          </a:solidFill>
                          <a:effectLst/>
                          <a:uFillTx/>
                          <a:latin typeface="Figtree"/>
                          <a:ea typeface="Figtree"/>
                        </a:rPr>
                        <a:t>O1 · Unique certificate and QR per piece — 8-char code, 36^8 ≈ 2.8 × 10^12 codes, collision-checked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61640" marR="161640" marT="86040" marB="86040">
                    <a:lnL w="12240">
                      <a:solidFill>
                        <a:srgbClr val="FFFCF7"/>
                      </a:solidFill>
                      <a:prstDash val="solid"/>
                    </a:lnL>
                    <a:lnR w="12240">
                      <a:solidFill>
                        <a:srgbClr val="FFFCF7"/>
                      </a:solidFill>
                      <a:prstDash val="solid"/>
                    </a:lnR>
                    <a:lnT w="12240">
                      <a:solidFill>
                        <a:srgbClr val="FFFCF7"/>
                      </a:solidFill>
                      <a:prstDash val="solid"/>
                    </a:lnT>
                    <a:lnB w="12240">
                      <a:solidFill>
                        <a:srgbClr val="E2D3CE"/>
                      </a:solidFill>
                      <a:prstDash val="solid"/>
                    </a:lnB>
                    <a:noFill/>
                  </a:tcPr>
                </a:tc>
              </a:tr>
              <a:tr h="754200">
                <a:tc>
                  <a:txBody>
                    <a:bodyPr lIns="161640" tIns="86040" rIns="161640" bIns="8604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420C1C"/>
                          </a:solidFill>
                          <a:effectLst/>
                          <a:uFillTx/>
                          <a:latin typeface="Figtree"/>
                          <a:ea typeface="Figtree"/>
                        </a:rPr>
                        <a:t>O2 · Signed, hash-linked handovers — Each transfer is hashed (SHA-256), linked to the previous record, and signed by the outgoing custodian with Ed25519; Genesis plus one record per transfer.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61640" marR="161640" marT="86040" marB="86040">
                    <a:lnL w="12240">
                      <a:solidFill>
                        <a:srgbClr val="FFFCF7"/>
                      </a:solidFill>
                      <a:prstDash val="solid"/>
                    </a:lnL>
                    <a:lnR w="12240">
                      <a:solidFill>
                        <a:srgbClr val="FFFCF7"/>
                      </a:solidFill>
                      <a:prstDash val="solid"/>
                    </a:lnR>
                    <a:lnT w="12240">
                      <a:solidFill>
                        <a:srgbClr val="E2D3CE"/>
                      </a:solidFill>
                      <a:prstDash val="solid"/>
                    </a:lnT>
                    <a:lnB w="12240">
                      <a:solidFill>
                        <a:srgbClr val="E2D3CE"/>
                      </a:solidFill>
                      <a:prstDash val="solid"/>
                    </a:lnB>
                    <a:noFill/>
                  </a:tcPr>
                </a:tc>
              </a:tr>
              <a:tr h="469440">
                <a:tc>
                  <a:txBody>
                    <a:bodyPr lIns="161640" tIns="86040" rIns="161640" bIns="8604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420C1C"/>
                          </a:solidFill>
                          <a:effectLst/>
                          <a:uFillTx/>
                          <a:latin typeface="Figtree"/>
                          <a:ea typeface="Figtree"/>
                        </a:rPr>
                        <a:t>O3 · Detect tampering — 4 attack classes tested, all caught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61640" marR="161640" marT="86040" marB="86040">
                    <a:lnL w="12240">
                      <a:solidFill>
                        <a:srgbClr val="FFFCF7"/>
                      </a:solidFill>
                      <a:prstDash val="solid"/>
                    </a:lnL>
                    <a:lnR w="12240">
                      <a:solidFill>
                        <a:srgbClr val="FFFCF7"/>
                      </a:solidFill>
                      <a:prstDash val="solid"/>
                    </a:lnR>
                    <a:lnT w="12240">
                      <a:solidFill>
                        <a:srgbClr val="E2D3CE"/>
                      </a:solidFill>
                      <a:prstDash val="solid"/>
                    </a:lnT>
                    <a:lnB w="12240">
                      <a:solidFill>
                        <a:srgbClr val="E2D3CE"/>
                      </a:solidFill>
                      <a:prstDash val="solid"/>
                    </a:lnB>
                    <a:noFill/>
                  </a:tcPr>
                </a:tc>
              </a:tr>
              <a:tr h="754200">
                <a:tc>
                  <a:txBody>
                    <a:bodyPr lIns="161640" tIns="86040" rIns="161640" bIns="8604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420C1C"/>
                          </a:solidFill>
                          <a:effectLst/>
                          <a:uFillTx/>
                          <a:latin typeface="Figtree"/>
                          <a:ea typeface="Figtree"/>
                        </a:rPr>
                        <a:t>O4 · Verify with zero login — Public GET /c/{code}; buyers need no account. Every certificate page re-verifies the chain: green VERIFIED AUTHENTIC, or red WARNING: ALTERED RECORD naming the step.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61640" marR="161640" marT="86040" marB="86040">
                    <a:lnL w="12240">
                      <a:solidFill>
                        <a:srgbClr val="FFFCF7"/>
                      </a:solidFill>
                      <a:prstDash val="solid"/>
                    </a:lnL>
                    <a:lnR w="12240">
                      <a:solidFill>
                        <a:srgbClr val="FFFCF7"/>
                      </a:solidFill>
                      <a:prstDash val="solid"/>
                    </a:lnR>
                    <a:lnT w="12240">
                      <a:solidFill>
                        <a:srgbClr val="E2D3CE"/>
                      </a:solidFill>
                      <a:prstDash val="solid"/>
                    </a:lnT>
                    <a:lnB w="12240">
                      <a:solidFill>
                        <a:srgbClr val="E2D3CE"/>
                      </a:solidFill>
                      <a:prstDash val="solid"/>
                    </a:lnB>
                    <a:noFill/>
                  </a:tcPr>
                </a:tc>
              </a:tr>
              <a:tr h="469440">
                <a:tc>
                  <a:txBody>
                    <a:bodyPr lIns="161640" tIns="86040" rIns="161640" bIns="8604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420C1C"/>
                          </a:solidFill>
                          <a:effectLst/>
                          <a:uFillTx/>
                          <a:latin typeface="Figtree"/>
                          <a:ea typeface="Figtree"/>
                        </a:rPr>
                        <a:t>O5 · Public ledger — Records are sealed under public Merkle checkpoints with inclusion proofs.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61640" marR="161640" marT="86040" marB="86040">
                    <a:lnL w="12240">
                      <a:solidFill>
                        <a:srgbClr val="FFFCF7"/>
                      </a:solidFill>
                      <a:prstDash val="solid"/>
                    </a:lnL>
                    <a:lnR w="12240">
                      <a:solidFill>
                        <a:srgbClr val="FFFCF7"/>
                      </a:solidFill>
                      <a:prstDash val="solid"/>
                    </a:lnR>
                    <a:lnT w="12240">
                      <a:solidFill>
                        <a:srgbClr val="E2D3CE"/>
                      </a:solidFill>
                      <a:prstDash val="solid"/>
                    </a:lnT>
                    <a:lnB w="12240">
                      <a:solidFill>
                        <a:srgbClr val="E2D3CE"/>
                      </a:solidFill>
                      <a:prstDash val="solid"/>
                    </a:lnB>
                    <a:noFill/>
                  </a:tcPr>
                </a:tc>
              </a:tr>
              <a:tr h="754200">
                <a:tc>
                  <a:txBody>
                    <a:bodyPr lIns="161640" tIns="86040" rIns="161640" bIns="8604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420C1C"/>
                          </a:solidFill>
                          <a:effectLst/>
                          <a:uFillTx/>
                          <a:latin typeface="Figtree"/>
                          <a:ea typeface="Figtree"/>
                        </a:rPr>
                        <a:t>O6 · No need to trust the server — verify_cli.py re-checks locally; public API and verifier CLI need no trust in the server.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61640" marR="161640" marT="86040" marB="86040">
                    <a:lnL w="12240">
                      <a:solidFill>
                        <a:srgbClr val="FFFCF7"/>
                      </a:solidFill>
                      <a:prstDash val="solid"/>
                    </a:lnL>
                    <a:lnR w="12240">
                      <a:solidFill>
                        <a:srgbClr val="FFFCF7"/>
                      </a:solidFill>
                      <a:prstDash val="solid"/>
                    </a:lnR>
                    <a:lnT w="12240">
                      <a:solidFill>
                        <a:srgbClr val="E2D3CE"/>
                      </a:solidFill>
                      <a:prstDash val="solid"/>
                    </a:lnT>
                    <a:lnB w="12240">
                      <a:solidFill>
                        <a:srgbClr val="E2D3CE"/>
                      </a:solidFill>
                      <a:prstDash val="solid"/>
                    </a:lnB>
                    <a:noFill/>
                  </a:tcPr>
                </a:tc>
              </a:tr>
              <a:tr h="456840">
                <a:tc>
                  <a:txBody>
                    <a:bodyPr lIns="161640" tIns="86040" rIns="161640" bIns="8604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420C1C"/>
                          </a:solidFill>
                          <a:effectLst/>
                          <a:uFillTx/>
                          <a:latin typeface="Figtree"/>
                          <a:ea typeface="Figtree"/>
                        </a:rPr>
                        <a:t>O7 · Hide jargon — Plain-language UI; keys generated invisibly at sign-up.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61640" marR="161640" marT="86040" marB="86040">
                    <a:lnL w="12240">
                      <a:solidFill>
                        <a:srgbClr val="FFFCF7"/>
                      </a:solidFill>
                      <a:prstDash val="solid"/>
                    </a:lnL>
                    <a:lnR w="12240">
                      <a:solidFill>
                        <a:srgbClr val="FFFCF7"/>
                      </a:solidFill>
                      <a:prstDash val="solid"/>
                    </a:lnR>
                    <a:lnT w="12240">
                      <a:solidFill>
                        <a:srgbClr val="E2D3CE"/>
                      </a:solidFill>
                      <a:prstDash val="solid"/>
                    </a:lnT>
                    <a:lnB w="12240">
                      <a:solidFill>
                        <a:srgbClr val="FFFCF7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 0"/>
          <p:cNvSpPr/>
          <p:nvPr/>
        </p:nvSpPr>
        <p:spPr>
          <a:xfrm>
            <a:off x="812880" y="818280"/>
            <a:ext cx="11175480" cy="14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8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7A5C60"/>
                </a:solidFill>
                <a:effectLst/>
                <a:uFillTx/>
                <a:latin typeface="Figtree Medium"/>
                <a:ea typeface="Figtree Medium"/>
              </a:rPr>
              <a:t>THEORE</a:t>
            </a:r>
            <a:r>
              <a:rPr lang="en-US" sz="900" b="0" u="none" strike="noStrike">
                <a:solidFill>
                  <a:srgbClr val="7A5C60"/>
                </a:solidFill>
                <a:effectLst/>
                <a:uFillTx/>
                <a:latin typeface="Figtree Medium"/>
                <a:ea typeface="Figtree Medium"/>
              </a:rPr>
              <a:t>TICAL </a:t>
            </a:r>
            <a:r>
              <a:rPr lang="en-US" sz="900" b="0" u="none" strike="noStrike">
                <a:solidFill>
                  <a:srgbClr val="7A5C60"/>
                </a:solidFill>
                <a:effectLst/>
                <a:uFillTx/>
                <a:latin typeface="Figtree Medium"/>
                <a:ea typeface="Figtree Medium"/>
              </a:rPr>
              <a:t>FOUNDA</a:t>
            </a:r>
            <a:r>
              <a:rPr lang="en-US" sz="900" b="0" u="none" strike="noStrike">
                <a:solidFill>
                  <a:srgbClr val="7A5C60"/>
                </a:solidFill>
                <a:effectLst/>
                <a:uFillTx/>
                <a:latin typeface="Figtree Medium"/>
                <a:ea typeface="Figtree Medium"/>
              </a:rPr>
              <a:t>TION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1"/>
          <p:cNvSpPr/>
          <p:nvPr/>
        </p:nvSpPr>
        <p:spPr>
          <a:xfrm>
            <a:off x="812880" y="1034280"/>
            <a:ext cx="9143280" cy="27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88000"/>
              </a:lnSpc>
              <a:tabLst>
                <a:tab pos="0" algn="l"/>
              </a:tabLst>
            </a:pPr>
            <a:r>
              <a:rPr lang="en-US" sz="2100" b="0" u="none" spc="-31" strike="noStrike">
                <a:solidFill>
                  <a:srgbClr val="420C1C"/>
                </a:solidFill>
                <a:effectLst/>
                <a:uFillTx/>
                <a:latin typeface="Cormorant Garamond SemiBold"/>
                <a:ea typeface="Cormorant Garamond SemiBold"/>
              </a:rPr>
              <a:t>Stro</a:t>
            </a:r>
            <a:r>
              <a:rPr lang="en-US" sz="2100" b="0" u="none" spc="-31" strike="noStrike">
                <a:solidFill>
                  <a:srgbClr val="420C1C"/>
                </a:solidFill>
                <a:effectLst/>
                <a:uFillTx/>
                <a:latin typeface="Cormorant Garamond SemiBold"/>
                <a:ea typeface="Cormorant Garamond SemiBold"/>
              </a:rPr>
              <a:t>ng </a:t>
            </a:r>
            <a:r>
              <a:rPr lang="en-US" sz="2100" b="0" u="none" spc="-31" strike="noStrike">
                <a:solidFill>
                  <a:srgbClr val="420C1C"/>
                </a:solidFill>
                <a:effectLst/>
                <a:uFillTx/>
                <a:latin typeface="Cormorant Garamond SemiBold"/>
                <a:ea typeface="Cormorant Garamond SemiBold"/>
              </a:rPr>
              <a:t>pri</a:t>
            </a:r>
            <a:r>
              <a:rPr lang="en-US" sz="2100" b="0" u="none" spc="-31" strike="noStrike">
                <a:solidFill>
                  <a:srgbClr val="420C1C"/>
                </a:solidFill>
                <a:effectLst/>
                <a:uFillTx/>
                <a:latin typeface="Cormorant Garamond SemiBold"/>
                <a:ea typeface="Cormorant Garamond SemiBold"/>
              </a:rPr>
              <a:t>miti</a:t>
            </a:r>
            <a:r>
              <a:rPr lang="en-US" sz="2100" b="0" u="none" spc="-31" strike="noStrike">
                <a:solidFill>
                  <a:srgbClr val="420C1C"/>
                </a:solidFill>
                <a:effectLst/>
                <a:uFillTx/>
                <a:latin typeface="Cormorant Garamond SemiBold"/>
                <a:ea typeface="Cormorant Garamond SemiBold"/>
              </a:rPr>
              <a:t>ves </a:t>
            </a:r>
            <a:r>
              <a:rPr lang="en-US" sz="2100" b="0" u="none" spc="-31" strike="noStrike">
                <a:solidFill>
                  <a:srgbClr val="420C1C"/>
                </a:solidFill>
                <a:effectLst/>
                <a:uFillTx/>
                <a:latin typeface="Cormorant Garamond SemiBold"/>
                <a:ea typeface="Cormorant Garamond SemiBold"/>
              </a:rPr>
              <a:t>exist</a:t>
            </a:r>
            <a:r>
              <a:rPr lang="en-US" sz="2100" b="0" u="none" spc="-31" strike="noStrike">
                <a:solidFill>
                  <a:srgbClr val="420C1C"/>
                </a:solidFill>
                <a:effectLst/>
                <a:uFillTx/>
                <a:latin typeface="Cormorant Garamond SemiBold"/>
                <a:ea typeface="Cormorant Garamond SemiBold"/>
              </a:rPr>
              <a:t>, but </a:t>
            </a:r>
            <a:r>
              <a:rPr lang="en-US" sz="2100" b="0" u="none" spc="-31" strike="noStrike">
                <a:solidFill>
                  <a:srgbClr val="420C1C"/>
                </a:solidFill>
                <a:effectLst/>
                <a:uFillTx/>
                <a:latin typeface="Cormorant Garamond SemiBold"/>
                <a:ea typeface="Cormorant Garamond SemiBold"/>
              </a:rPr>
              <a:t>no </a:t>
            </a:r>
            <a:r>
              <a:rPr lang="en-US" sz="2100" b="0" u="none" spc="-31" strike="noStrike">
                <a:solidFill>
                  <a:srgbClr val="420C1C"/>
                </a:solidFill>
                <a:effectLst/>
                <a:uFillTx/>
                <a:latin typeface="Cormorant Garamond SemiBold"/>
                <a:ea typeface="Cormorant Garamond SemiBold"/>
              </a:rPr>
              <a:t>light</a:t>
            </a:r>
            <a:r>
              <a:rPr lang="en-US" sz="2100" b="0" u="none" spc="-31" strike="noStrike">
                <a:solidFill>
                  <a:srgbClr val="420C1C"/>
                </a:solidFill>
                <a:effectLst/>
                <a:uFillTx/>
                <a:latin typeface="Cormorant Garamond SemiBold"/>
                <a:ea typeface="Cormorant Garamond SemiBold"/>
              </a:rPr>
              <a:t>weig</a:t>
            </a:r>
            <a:r>
              <a:rPr lang="en-US" sz="2100" b="0" u="none" spc="-31" strike="noStrike">
                <a:solidFill>
                  <a:srgbClr val="420C1C"/>
                </a:solidFill>
                <a:effectLst/>
                <a:uFillTx/>
                <a:latin typeface="Cormorant Garamond SemiBold"/>
                <a:ea typeface="Cormorant Garamond SemiBold"/>
              </a:rPr>
              <a:t>ht </a:t>
            </a:r>
            <a:r>
              <a:rPr lang="en-US" sz="2100" b="0" u="none" spc="-31" strike="noStrike">
                <a:solidFill>
                  <a:srgbClr val="420C1C"/>
                </a:solidFill>
                <a:effectLst/>
                <a:uFillTx/>
                <a:latin typeface="Cormorant Garamond SemiBold"/>
                <a:ea typeface="Cormorant Garamond SemiBold"/>
              </a:rPr>
              <a:t>prov</a:t>
            </a:r>
            <a:r>
              <a:rPr lang="en-US" sz="2100" b="0" u="none" spc="-31" strike="noStrike">
                <a:solidFill>
                  <a:srgbClr val="420C1C"/>
                </a:solidFill>
                <a:effectLst/>
                <a:uFillTx/>
                <a:latin typeface="Cormorant Garamond SemiBold"/>
                <a:ea typeface="Cormorant Garamond SemiBold"/>
              </a:rPr>
              <a:t>ena</a:t>
            </a:r>
            <a:r>
              <a:rPr lang="en-US" sz="2100" b="0" u="none" spc="-31" strike="noStrike">
                <a:solidFill>
                  <a:srgbClr val="420C1C"/>
                </a:solidFill>
                <a:effectLst/>
                <a:uFillTx/>
                <a:latin typeface="Cormorant Garamond SemiBold"/>
                <a:ea typeface="Cormorant Garamond SemiBold"/>
              </a:rPr>
              <a:t>nce </a:t>
            </a:r>
            <a:r>
              <a:rPr lang="en-US" sz="2100" b="0" u="none" spc="-31" strike="noStrike">
                <a:solidFill>
                  <a:srgbClr val="420C1C"/>
                </a:solidFill>
                <a:effectLst/>
                <a:uFillTx/>
                <a:latin typeface="Cormorant Garamond SemiBold"/>
                <a:ea typeface="Cormorant Garamond SemiBold"/>
              </a:rPr>
              <a:t>wor</a:t>
            </a:r>
            <a:r>
              <a:rPr lang="en-US" sz="2100" b="0" u="none" spc="-31" strike="noStrike">
                <a:solidFill>
                  <a:srgbClr val="420C1C"/>
                </a:solidFill>
                <a:effectLst/>
                <a:uFillTx/>
                <a:latin typeface="Cormorant Garamond SemiBold"/>
                <a:ea typeface="Cormorant Garamond SemiBold"/>
              </a:rPr>
              <a:t>kflo</a:t>
            </a:r>
            <a:r>
              <a:rPr lang="en-US" sz="2100" b="0" u="none" spc="-31" strike="noStrike">
                <a:solidFill>
                  <a:srgbClr val="420C1C"/>
                </a:solidFill>
                <a:effectLst/>
                <a:uFillTx/>
                <a:latin typeface="Cormorant Garamond SemiBold"/>
                <a:ea typeface="Cormorant Garamond SemiBold"/>
              </a:rPr>
              <a:t>w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2"/>
          <p:cNvSpPr/>
          <p:nvPr/>
        </p:nvSpPr>
        <p:spPr>
          <a:xfrm>
            <a:off x="812880" y="1436400"/>
            <a:ext cx="7619400" cy="46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 lnSpcReduction="9999"/>
          </a:bodyPr>
          <a:p>
            <a:pPr defTabSz="914400">
              <a:lnSpc>
                <a:spcPct val="99000"/>
              </a:lnSpc>
              <a:tabLst>
                <a:tab pos="0" algn="l"/>
              </a:tabLst>
            </a:pPr>
            <a:r>
              <a:rPr lang="en-US" sz="1550" b="0" u="none" strike="noStrike">
                <a:solidFill>
                  <a:srgbClr val="7A5C60"/>
                </a:solidFill>
                <a:effectLst/>
                <a:uFillTx/>
                <a:latin typeface="Figtree"/>
                <a:ea typeface="Figtree"/>
              </a:rPr>
              <a:t>Craft</a:t>
            </a:r>
            <a:r>
              <a:rPr lang="en-US" sz="1550" b="0" u="none" strike="noStrike">
                <a:solidFill>
                  <a:srgbClr val="7A5C60"/>
                </a:solidFill>
                <a:effectLst/>
                <a:uFillTx/>
                <a:latin typeface="Figtree"/>
                <a:ea typeface="Figtree"/>
              </a:rPr>
              <a:t>Proo</a:t>
            </a:r>
            <a:r>
              <a:rPr lang="en-US" sz="1550" b="0" u="none" strike="noStrike">
                <a:solidFill>
                  <a:srgbClr val="7A5C60"/>
                </a:solidFill>
                <a:effectLst/>
                <a:uFillTx/>
                <a:latin typeface="Figtree"/>
                <a:ea typeface="Figtree"/>
              </a:rPr>
              <a:t>f </a:t>
            </a:r>
            <a:r>
              <a:rPr lang="en-US" sz="1550" b="0" u="none" strike="noStrike">
                <a:solidFill>
                  <a:srgbClr val="7A5C60"/>
                </a:solidFill>
                <a:effectLst/>
                <a:uFillTx/>
                <a:latin typeface="Figtree"/>
                <a:ea typeface="Figtree"/>
              </a:rPr>
              <a:t>bridg</a:t>
            </a:r>
            <a:r>
              <a:rPr lang="en-US" sz="1550" b="0" u="none" strike="noStrike">
                <a:solidFill>
                  <a:srgbClr val="7A5C60"/>
                </a:solidFill>
                <a:effectLst/>
                <a:uFillTx/>
                <a:latin typeface="Figtree"/>
                <a:ea typeface="Figtree"/>
              </a:rPr>
              <a:t>es </a:t>
            </a:r>
            <a:r>
              <a:rPr lang="en-US" sz="1550" b="0" u="none" strike="noStrike">
                <a:solidFill>
                  <a:srgbClr val="7A5C60"/>
                </a:solidFill>
                <a:effectLst/>
                <a:uFillTx/>
                <a:latin typeface="Figtree"/>
                <a:ea typeface="Figtree"/>
              </a:rPr>
              <a:t>foun</a:t>
            </a:r>
            <a:r>
              <a:rPr lang="en-US" sz="1550" b="0" u="none" strike="noStrike">
                <a:solidFill>
                  <a:srgbClr val="7A5C60"/>
                </a:solidFill>
                <a:effectLst/>
                <a:uFillTx/>
                <a:latin typeface="Figtree"/>
                <a:ea typeface="Figtree"/>
              </a:rPr>
              <a:t>datio</a:t>
            </a:r>
            <a:r>
              <a:rPr lang="en-US" sz="1550" b="0" u="none" strike="noStrike">
                <a:solidFill>
                  <a:srgbClr val="7A5C60"/>
                </a:solidFill>
                <a:effectLst/>
                <a:uFillTx/>
                <a:latin typeface="Figtree"/>
                <a:ea typeface="Figtree"/>
              </a:rPr>
              <a:t>nal </a:t>
            </a:r>
            <a:r>
              <a:rPr lang="en-US" sz="1550" b="0" u="none" strike="noStrike">
                <a:solidFill>
                  <a:srgbClr val="7A5C60"/>
                </a:solidFill>
                <a:effectLst/>
                <a:uFillTx/>
                <a:latin typeface="Figtree"/>
                <a:ea typeface="Figtree"/>
              </a:rPr>
              <a:t>crypt</a:t>
            </a:r>
            <a:r>
              <a:rPr lang="en-US" sz="1550" b="0" u="none" strike="noStrike">
                <a:solidFill>
                  <a:srgbClr val="7A5C60"/>
                </a:solidFill>
                <a:effectLst/>
                <a:uFillTx/>
                <a:latin typeface="Figtree"/>
                <a:ea typeface="Figtree"/>
              </a:rPr>
              <a:t>ogra</a:t>
            </a:r>
            <a:r>
              <a:rPr lang="en-US" sz="1550" b="0" u="none" strike="noStrike">
                <a:solidFill>
                  <a:srgbClr val="7A5C60"/>
                </a:solidFill>
                <a:effectLst/>
                <a:uFillTx/>
                <a:latin typeface="Figtree"/>
                <a:ea typeface="Figtree"/>
              </a:rPr>
              <a:t>phic </a:t>
            </a:r>
            <a:r>
              <a:rPr lang="en-US" sz="1550" b="0" u="none" strike="noStrike">
                <a:solidFill>
                  <a:srgbClr val="7A5C60"/>
                </a:solidFill>
                <a:effectLst/>
                <a:uFillTx/>
                <a:latin typeface="Figtree"/>
                <a:ea typeface="Figtree"/>
              </a:rPr>
              <a:t>litera</a:t>
            </a:r>
            <a:r>
              <a:rPr lang="en-US" sz="1550" b="0" u="none" strike="noStrike">
                <a:solidFill>
                  <a:srgbClr val="7A5C60"/>
                </a:solidFill>
                <a:effectLst/>
                <a:uFillTx/>
                <a:latin typeface="Figtree"/>
                <a:ea typeface="Figtree"/>
              </a:rPr>
              <a:t>ture </a:t>
            </a:r>
            <a:r>
              <a:rPr lang="en-US" sz="1550" b="0" u="none" strike="noStrike">
                <a:solidFill>
                  <a:srgbClr val="7A5C60"/>
                </a:solidFill>
                <a:effectLst/>
                <a:uFillTx/>
                <a:latin typeface="Figtree"/>
                <a:ea typeface="Figtree"/>
              </a:rPr>
              <a:t>with </a:t>
            </a:r>
            <a:r>
              <a:rPr lang="en-US" sz="1550" b="0" u="none" strike="noStrike">
                <a:solidFill>
                  <a:srgbClr val="7A5C60"/>
                </a:solidFill>
                <a:effectLst/>
                <a:uFillTx/>
                <a:latin typeface="Figtree"/>
                <a:ea typeface="Figtree"/>
              </a:rPr>
              <a:t>the </a:t>
            </a:r>
            <a:r>
              <a:rPr lang="en-US" sz="1550" b="0" u="none" strike="noStrike">
                <a:solidFill>
                  <a:srgbClr val="7A5C60"/>
                </a:solidFill>
                <a:effectLst/>
                <a:uFillTx/>
                <a:latin typeface="Figtree"/>
                <a:ea typeface="Figtree"/>
              </a:rPr>
              <a:t>oper</a:t>
            </a:r>
            <a:r>
              <a:rPr lang="en-US" sz="1550" b="0" u="none" strike="noStrike">
                <a:solidFill>
                  <a:srgbClr val="7A5C60"/>
                </a:solidFill>
                <a:effectLst/>
                <a:uFillTx/>
                <a:latin typeface="Figtree"/>
                <a:ea typeface="Figtree"/>
              </a:rPr>
              <a:t>ation</a:t>
            </a:r>
            <a:r>
              <a:rPr lang="en-US" sz="1550" b="0" u="none" strike="noStrike">
                <a:solidFill>
                  <a:srgbClr val="7A5C60"/>
                </a:solidFill>
                <a:effectLst/>
                <a:uFillTx/>
                <a:latin typeface="Figtree"/>
                <a:ea typeface="Figtree"/>
              </a:rPr>
              <a:t>al </a:t>
            </a:r>
            <a:r>
              <a:rPr lang="en-US" sz="1550" b="0" u="none" strike="noStrike">
                <a:solidFill>
                  <a:srgbClr val="7A5C60"/>
                </a:solidFill>
                <a:effectLst/>
                <a:uFillTx/>
                <a:latin typeface="Figtree"/>
                <a:ea typeface="Figtree"/>
              </a:rPr>
              <a:t>cons</a:t>
            </a:r>
            <a:r>
              <a:rPr lang="en-US" sz="1550" b="0" u="none" strike="noStrike">
                <a:solidFill>
                  <a:srgbClr val="7A5C60"/>
                </a:solidFill>
                <a:effectLst/>
                <a:uFillTx/>
                <a:latin typeface="Figtree"/>
                <a:ea typeface="Figtree"/>
              </a:rPr>
              <a:t>train</a:t>
            </a:r>
            <a:r>
              <a:rPr lang="en-US" sz="1550" b="0" u="none" strike="noStrike">
                <a:solidFill>
                  <a:srgbClr val="7A5C60"/>
                </a:solidFill>
                <a:effectLst/>
                <a:uFillTx/>
                <a:latin typeface="Figtree"/>
                <a:ea typeface="Figtree"/>
              </a:rPr>
              <a:t>ts of </a:t>
            </a:r>
            <a:r>
              <a:rPr lang="en-US" sz="1550" b="0" u="none" strike="noStrike">
                <a:solidFill>
                  <a:srgbClr val="7A5C60"/>
                </a:solidFill>
                <a:effectLst/>
                <a:uFillTx/>
                <a:latin typeface="Figtree"/>
                <a:ea typeface="Figtree"/>
              </a:rPr>
              <a:t>craft </a:t>
            </a:r>
            <a:r>
              <a:rPr lang="en-US" sz="1550" b="0" u="none" strike="noStrike">
                <a:solidFill>
                  <a:srgbClr val="7A5C60"/>
                </a:solidFill>
                <a:effectLst/>
                <a:uFillTx/>
                <a:latin typeface="Figtree"/>
                <a:ea typeface="Figtree"/>
              </a:rPr>
              <a:t>supp</a:t>
            </a:r>
            <a:r>
              <a:rPr lang="en-US" sz="1550" b="0" u="none" strike="noStrike">
                <a:solidFill>
                  <a:srgbClr val="7A5C60"/>
                </a:solidFill>
                <a:effectLst/>
                <a:uFillTx/>
                <a:latin typeface="Figtree"/>
                <a:ea typeface="Figtree"/>
              </a:rPr>
              <a:t>ly </a:t>
            </a:r>
            <a:r>
              <a:rPr lang="en-US" sz="1550" b="0" u="none" strike="noStrike">
                <a:solidFill>
                  <a:srgbClr val="7A5C60"/>
                </a:solidFill>
                <a:effectLst/>
                <a:uFillTx/>
                <a:latin typeface="Figtree"/>
                <a:ea typeface="Figtree"/>
              </a:rPr>
              <a:t>chai</a:t>
            </a:r>
            <a:r>
              <a:rPr lang="en-US" sz="1550" b="0" u="none" strike="noStrike">
                <a:solidFill>
                  <a:srgbClr val="7A5C60"/>
                </a:solidFill>
                <a:effectLst/>
                <a:uFillTx/>
                <a:latin typeface="Figtree"/>
                <a:ea typeface="Figtree"/>
              </a:rPr>
              <a:t>ns.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34" name="Table 0"/>
          <p:cNvGraphicFramePr/>
          <p:nvPr/>
        </p:nvGraphicFramePr>
        <p:xfrm>
          <a:off x="812880" y="2025360"/>
          <a:ext cx="10565640" cy="4372920"/>
        </p:xfrm>
        <a:graphic>
          <a:graphicData uri="http://schemas.openxmlformats.org/drawingml/2006/table">
            <a:tbl>
              <a:tblPr/>
              <a:tblGrid>
                <a:gridCol w="844920"/>
                <a:gridCol w="2477520"/>
                <a:gridCol w="3380040"/>
                <a:gridCol w="3862800"/>
              </a:tblGrid>
              <a:tr h="388800">
                <a:tc>
                  <a:txBody>
                    <a:bodyPr lIns="152280" tIns="101520" rIns="152280" bIns="1015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420C1C"/>
                          </a:solidFill>
                          <a:effectLst/>
                          <a:uFillTx/>
                          <a:latin typeface="Figtree"/>
                          <a:ea typeface="Figtree"/>
                        </a:rPr>
                        <a:t>Ref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52280" marR="152280" marT="101520" marB="101520">
                    <a:lnL w="12240">
                      <a:solidFill>
                        <a:srgbClr val="FFFCF7"/>
                      </a:solidFill>
                      <a:prstDash val="solid"/>
                    </a:lnL>
                    <a:lnR w="12240">
                      <a:solidFill>
                        <a:srgbClr val="FFFCF7"/>
                      </a:solidFill>
                      <a:prstDash val="solid"/>
                    </a:lnR>
                    <a:lnT w="12240">
                      <a:solidFill>
                        <a:srgbClr val="FFFCF7"/>
                      </a:solidFill>
                      <a:prstDash val="solid"/>
                    </a:lnT>
                    <a:lnB w="12240">
                      <a:solidFill>
                        <a:srgbClr val="E2D3C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52280" tIns="101520" rIns="152280" bIns="1015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420C1C"/>
                          </a:solidFill>
                          <a:effectLst/>
                          <a:uFillTx/>
                          <a:latin typeface="Figtree"/>
                          <a:ea typeface="Figtree"/>
                        </a:rPr>
                        <a:t>Work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52280" marR="152280" marT="101520" marB="101520">
                    <a:lnL w="12240">
                      <a:solidFill>
                        <a:srgbClr val="FFFCF7"/>
                      </a:solidFill>
                      <a:prstDash val="solid"/>
                    </a:lnL>
                    <a:lnR w="12240">
                      <a:solidFill>
                        <a:srgbClr val="FFFCF7"/>
                      </a:solidFill>
                      <a:prstDash val="solid"/>
                    </a:lnR>
                    <a:lnT w="12240">
                      <a:solidFill>
                        <a:srgbClr val="FFFCF7"/>
                      </a:solidFill>
                      <a:prstDash val="solid"/>
                    </a:lnT>
                    <a:lnB w="12240">
                      <a:solidFill>
                        <a:srgbClr val="E2D3C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52280" tIns="101520" rIns="152280" bIns="1015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420C1C"/>
                          </a:solidFill>
                          <a:effectLst/>
                          <a:uFillTx/>
                          <a:latin typeface="Figtree"/>
                          <a:ea typeface="Figtree"/>
                        </a:rPr>
                        <a:t>Contribution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52280" marR="152280" marT="101520" marB="101520">
                    <a:lnL w="12240">
                      <a:solidFill>
                        <a:srgbClr val="FFFCF7"/>
                      </a:solidFill>
                      <a:prstDash val="solid"/>
                    </a:lnL>
                    <a:lnR w="12240">
                      <a:solidFill>
                        <a:srgbClr val="FFFCF7"/>
                      </a:solidFill>
                      <a:prstDash val="solid"/>
                    </a:lnR>
                    <a:lnT w="12240">
                      <a:solidFill>
                        <a:srgbClr val="FFFCF7"/>
                      </a:solidFill>
                      <a:prstDash val="solid"/>
                    </a:lnT>
                    <a:lnB w="12240">
                      <a:solidFill>
                        <a:srgbClr val="E2D3C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52280" tIns="101520" rIns="152280" bIns="1015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420C1C"/>
                          </a:solidFill>
                          <a:effectLst/>
                          <a:uFillTx/>
                          <a:latin typeface="Figtree"/>
                          <a:ea typeface="Figtree"/>
                        </a:rPr>
                        <a:t>Link to CraftProof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52280" marR="152280" marT="101520" marB="101520">
                    <a:lnL w="12240">
                      <a:solidFill>
                        <a:srgbClr val="FFFCF7"/>
                      </a:solidFill>
                      <a:prstDash val="solid"/>
                    </a:lnL>
                    <a:lnR w="12240">
                      <a:solidFill>
                        <a:srgbClr val="FFFCF7"/>
                      </a:solidFill>
                      <a:prstDash val="solid"/>
                    </a:lnR>
                    <a:lnT w="12240">
                      <a:solidFill>
                        <a:srgbClr val="FFFCF7"/>
                      </a:solidFill>
                      <a:prstDash val="solid"/>
                    </a:lnT>
                    <a:lnB w="12240">
                      <a:solidFill>
                        <a:srgbClr val="E2D3CE"/>
                      </a:solidFill>
                      <a:prstDash val="solid"/>
                    </a:lnB>
                    <a:noFill/>
                  </a:tcPr>
                </a:tc>
              </a:tr>
              <a:tr h="568440">
                <a:tc>
                  <a:txBody>
                    <a:bodyPr lIns="152280" tIns="101520" rIns="152280" bIns="1015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420C1C"/>
                          </a:solidFill>
                          <a:effectLst/>
                          <a:uFillTx/>
                          <a:latin typeface="Figtree"/>
                          <a:ea typeface="Figtree"/>
                        </a:rPr>
                        <a:t>[1]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52280" marR="152280" marT="101520" marB="101520">
                    <a:lnL w="12240">
                      <a:solidFill>
                        <a:srgbClr val="FFFCF7"/>
                      </a:solidFill>
                      <a:prstDash val="solid"/>
                    </a:lnL>
                    <a:lnR w="12240">
                      <a:solidFill>
                        <a:srgbClr val="FFFCF7"/>
                      </a:solidFill>
                      <a:prstDash val="solid"/>
                    </a:lnR>
                    <a:lnT w="12240">
                      <a:solidFill>
                        <a:srgbClr val="E2D3CE"/>
                      </a:solidFill>
                      <a:prstDash val="solid"/>
                    </a:lnT>
                    <a:lnB w="12240">
                      <a:solidFill>
                        <a:srgbClr val="E2D3C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52280" tIns="101520" rIns="152280" bIns="1015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420C1C"/>
                          </a:solidFill>
                          <a:effectLst/>
                          <a:uFillTx/>
                          <a:latin typeface="Figtree"/>
                          <a:ea typeface="Figtree"/>
                        </a:rPr>
                        <a:t>Haber &amp; Stornetta, 1991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52280" marR="152280" marT="101520" marB="101520">
                    <a:lnL w="12240">
                      <a:solidFill>
                        <a:srgbClr val="FFFCF7"/>
                      </a:solidFill>
                      <a:prstDash val="solid"/>
                    </a:lnL>
                    <a:lnR w="12240">
                      <a:solidFill>
                        <a:srgbClr val="FFFCF7"/>
                      </a:solidFill>
                      <a:prstDash val="solid"/>
                    </a:lnR>
                    <a:lnT w="12240">
                      <a:solidFill>
                        <a:srgbClr val="E2D3CE"/>
                      </a:solidFill>
                      <a:prstDash val="solid"/>
                    </a:lnT>
                    <a:lnB w="12240">
                      <a:solidFill>
                        <a:srgbClr val="E2D3C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52280" tIns="101520" rIns="152280" bIns="1015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420C1C"/>
                          </a:solidFill>
                          <a:effectLst/>
                          <a:uFillTx/>
                          <a:latin typeface="Figtree"/>
                          <a:ea typeface="Figtree"/>
                        </a:rPr>
                        <a:t>Hash-linked digital timestamping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52280" marR="152280" marT="101520" marB="101520">
                    <a:lnL w="12240">
                      <a:solidFill>
                        <a:srgbClr val="FFFCF7"/>
                      </a:solidFill>
                      <a:prstDash val="solid"/>
                    </a:lnL>
                    <a:lnR w="12240">
                      <a:solidFill>
                        <a:srgbClr val="FFFCF7"/>
                      </a:solidFill>
                      <a:prstDash val="solid"/>
                    </a:lnR>
                    <a:lnT w="12240">
                      <a:solidFill>
                        <a:srgbClr val="E2D3CE"/>
                      </a:solidFill>
                      <a:prstDash val="solid"/>
                    </a:lnT>
                    <a:lnB w="12240">
                      <a:solidFill>
                        <a:srgbClr val="E2D3C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52280" tIns="101520" rIns="152280" bIns="1015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420C1C"/>
                          </a:solidFill>
                          <a:effectLst/>
                          <a:uFillTx/>
                          <a:latin typeface="Figtree"/>
                          <a:ea typeface="Figtree"/>
                        </a:rPr>
                        <a:t>Underpins per-piece sequential hash chain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52280" marR="152280" marT="101520" marB="101520">
                    <a:lnL w="12240">
                      <a:solidFill>
                        <a:srgbClr val="FFFCF7"/>
                      </a:solidFill>
                      <a:prstDash val="solid"/>
                    </a:lnL>
                    <a:lnR w="12240">
                      <a:solidFill>
                        <a:srgbClr val="FFFCF7"/>
                      </a:solidFill>
                      <a:prstDash val="solid"/>
                    </a:lnR>
                    <a:lnT w="12240">
                      <a:solidFill>
                        <a:srgbClr val="E2D3CE"/>
                      </a:solidFill>
                      <a:prstDash val="solid"/>
                    </a:lnT>
                    <a:lnB w="12240">
                      <a:solidFill>
                        <a:srgbClr val="E2D3CE"/>
                      </a:solidFill>
                      <a:prstDash val="solid"/>
                    </a:lnB>
                    <a:noFill/>
                  </a:tcPr>
                </a:tc>
              </a:tr>
              <a:tr h="568440">
                <a:tc>
                  <a:txBody>
                    <a:bodyPr lIns="152280" tIns="101520" rIns="152280" bIns="1015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420C1C"/>
                          </a:solidFill>
                          <a:effectLst/>
                          <a:uFillTx/>
                          <a:latin typeface="Figtree"/>
                          <a:ea typeface="Figtree"/>
                        </a:rPr>
                        <a:t>[2]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52280" marR="152280" marT="101520" marB="101520">
                    <a:lnL w="12240">
                      <a:solidFill>
                        <a:srgbClr val="FFFCF7"/>
                      </a:solidFill>
                      <a:prstDash val="solid"/>
                    </a:lnL>
                    <a:lnR w="12240">
                      <a:solidFill>
                        <a:srgbClr val="FFFCF7"/>
                      </a:solidFill>
                      <a:prstDash val="solid"/>
                    </a:lnR>
                    <a:lnT w="12240">
                      <a:solidFill>
                        <a:srgbClr val="E2D3CE"/>
                      </a:solidFill>
                      <a:prstDash val="solid"/>
                    </a:lnT>
                    <a:lnB w="12240">
                      <a:solidFill>
                        <a:srgbClr val="E2D3C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52280" tIns="101520" rIns="152280" bIns="1015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420C1C"/>
                          </a:solidFill>
                          <a:effectLst/>
                          <a:uFillTx/>
                          <a:latin typeface="Figtree"/>
                          <a:ea typeface="Figtree"/>
                        </a:rPr>
                        <a:t>Merkle, 1987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52280" marR="152280" marT="101520" marB="101520">
                    <a:lnL w="12240">
                      <a:solidFill>
                        <a:srgbClr val="FFFCF7"/>
                      </a:solidFill>
                      <a:prstDash val="solid"/>
                    </a:lnL>
                    <a:lnR w="12240">
                      <a:solidFill>
                        <a:srgbClr val="FFFCF7"/>
                      </a:solidFill>
                      <a:prstDash val="solid"/>
                    </a:lnR>
                    <a:lnT w="12240">
                      <a:solidFill>
                        <a:srgbClr val="E2D3CE"/>
                      </a:solidFill>
                      <a:prstDash val="solid"/>
                    </a:lnT>
                    <a:lnB w="12240">
                      <a:solidFill>
                        <a:srgbClr val="E2D3C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52280" tIns="101520" rIns="152280" bIns="1015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420C1C"/>
                          </a:solidFill>
                          <a:effectLst/>
                          <a:uFillTx/>
                          <a:latin typeface="Figtree"/>
                          <a:ea typeface="Figtree"/>
                        </a:rPr>
                        <a:t>Tree-based cryptographic integrity proofs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52280" marR="152280" marT="101520" marB="101520">
                    <a:lnL w="12240">
                      <a:solidFill>
                        <a:srgbClr val="FFFCF7"/>
                      </a:solidFill>
                      <a:prstDash val="solid"/>
                    </a:lnL>
                    <a:lnR w="12240">
                      <a:solidFill>
                        <a:srgbClr val="FFFCF7"/>
                      </a:solidFill>
                      <a:prstDash val="solid"/>
                    </a:lnR>
                    <a:lnT w="12240">
                      <a:solidFill>
                        <a:srgbClr val="E2D3CE"/>
                      </a:solidFill>
                      <a:prstDash val="solid"/>
                    </a:lnT>
                    <a:lnB w="12240">
                      <a:solidFill>
                        <a:srgbClr val="E2D3C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52280" tIns="101520" rIns="152280" bIns="1015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420C1C"/>
                          </a:solidFill>
                          <a:effectLst/>
                          <a:uFillTx/>
                          <a:latin typeface="Figtree"/>
                          <a:ea typeface="Figtree"/>
                        </a:rPr>
                        <a:t>Enables batch checkpoint inclusion verification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52280" marR="152280" marT="101520" marB="101520">
                    <a:lnL w="12240">
                      <a:solidFill>
                        <a:srgbClr val="FFFCF7"/>
                      </a:solidFill>
                      <a:prstDash val="solid"/>
                    </a:lnL>
                    <a:lnR w="12240">
                      <a:solidFill>
                        <a:srgbClr val="FFFCF7"/>
                      </a:solidFill>
                      <a:prstDash val="solid"/>
                    </a:lnR>
                    <a:lnT w="12240">
                      <a:solidFill>
                        <a:srgbClr val="E2D3CE"/>
                      </a:solidFill>
                      <a:prstDash val="solid"/>
                    </a:lnT>
                    <a:lnB w="12240">
                      <a:solidFill>
                        <a:srgbClr val="E2D3CE"/>
                      </a:solidFill>
                      <a:prstDash val="solid"/>
                    </a:lnB>
                    <a:noFill/>
                  </a:tcPr>
                </a:tc>
              </a:tr>
              <a:tr h="568440">
                <a:tc>
                  <a:txBody>
                    <a:bodyPr lIns="152280" tIns="101520" rIns="152280" bIns="1015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420C1C"/>
                          </a:solidFill>
                          <a:effectLst/>
                          <a:uFillTx/>
                          <a:latin typeface="Figtree"/>
                          <a:ea typeface="Figtree"/>
                        </a:rPr>
                        <a:t>[3]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52280" marR="152280" marT="101520" marB="101520">
                    <a:lnL w="12240">
                      <a:solidFill>
                        <a:srgbClr val="FFFCF7"/>
                      </a:solidFill>
                      <a:prstDash val="solid"/>
                    </a:lnL>
                    <a:lnR w="12240">
                      <a:solidFill>
                        <a:srgbClr val="FFFCF7"/>
                      </a:solidFill>
                      <a:prstDash val="solid"/>
                    </a:lnR>
                    <a:lnT w="12240">
                      <a:solidFill>
                        <a:srgbClr val="E2D3CE"/>
                      </a:solidFill>
                      <a:prstDash val="solid"/>
                    </a:lnT>
                    <a:lnB w="12240">
                      <a:solidFill>
                        <a:srgbClr val="E2D3C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52280" tIns="101520" rIns="152280" bIns="1015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420C1C"/>
                          </a:solidFill>
                          <a:effectLst/>
                          <a:uFillTx/>
                          <a:latin typeface="Figtree"/>
                          <a:ea typeface="Figtree"/>
                        </a:rPr>
                        <a:t>Bernstein et al., 2012 / RFC 8032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52280" marR="152280" marT="101520" marB="101520">
                    <a:lnL w="12240">
                      <a:solidFill>
                        <a:srgbClr val="FFFCF7"/>
                      </a:solidFill>
                      <a:prstDash val="solid"/>
                    </a:lnL>
                    <a:lnR w="12240">
                      <a:solidFill>
                        <a:srgbClr val="FFFCF7"/>
                      </a:solidFill>
                      <a:prstDash val="solid"/>
                    </a:lnR>
                    <a:lnT w="12240">
                      <a:solidFill>
                        <a:srgbClr val="E2D3CE"/>
                      </a:solidFill>
                      <a:prstDash val="solid"/>
                    </a:lnT>
                    <a:lnB w="12240">
                      <a:solidFill>
                        <a:srgbClr val="E2D3C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52280" tIns="101520" rIns="152280" bIns="1015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420C1C"/>
                          </a:solidFill>
                          <a:effectLst/>
                          <a:uFillTx/>
                          <a:latin typeface="Figtree"/>
                          <a:ea typeface="Figtree"/>
                        </a:rPr>
                        <a:t>High-speed Ed25519 digital signatures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52280" marR="152280" marT="101520" marB="101520">
                    <a:lnL w="12240">
                      <a:solidFill>
                        <a:srgbClr val="FFFCF7"/>
                      </a:solidFill>
                      <a:prstDash val="solid"/>
                    </a:lnL>
                    <a:lnR w="12240">
                      <a:solidFill>
                        <a:srgbClr val="FFFCF7"/>
                      </a:solidFill>
                      <a:prstDash val="solid"/>
                    </a:lnR>
                    <a:lnT w="12240">
                      <a:solidFill>
                        <a:srgbClr val="E2D3CE"/>
                      </a:solidFill>
                      <a:prstDash val="solid"/>
                    </a:lnT>
                    <a:lnB w="12240">
                      <a:solidFill>
                        <a:srgbClr val="E2D3C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52280" tIns="101520" rIns="152280" bIns="1015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420C1C"/>
                          </a:solidFill>
                          <a:effectLst/>
                          <a:uFillTx/>
                          <a:latin typeface="Figtree"/>
                          <a:ea typeface="Figtree"/>
                        </a:rPr>
                        <a:t>Provides fast, secure outgoing-custodian signing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52280" marR="152280" marT="101520" marB="101520">
                    <a:lnL w="12240">
                      <a:solidFill>
                        <a:srgbClr val="FFFCF7"/>
                      </a:solidFill>
                      <a:prstDash val="solid"/>
                    </a:lnL>
                    <a:lnR w="12240">
                      <a:solidFill>
                        <a:srgbClr val="FFFCF7"/>
                      </a:solidFill>
                      <a:prstDash val="solid"/>
                    </a:lnR>
                    <a:lnT w="12240">
                      <a:solidFill>
                        <a:srgbClr val="E2D3CE"/>
                      </a:solidFill>
                      <a:prstDash val="solid"/>
                    </a:lnT>
                    <a:lnB w="12240">
                      <a:solidFill>
                        <a:srgbClr val="E2D3CE"/>
                      </a:solidFill>
                      <a:prstDash val="solid"/>
                    </a:lnB>
                    <a:noFill/>
                  </a:tcPr>
                </a:tc>
              </a:tr>
              <a:tr h="568440">
                <a:tc>
                  <a:txBody>
                    <a:bodyPr lIns="152280" tIns="101520" rIns="152280" bIns="1015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420C1C"/>
                          </a:solidFill>
                          <a:effectLst/>
                          <a:uFillTx/>
                          <a:latin typeface="Figtree"/>
                          <a:ea typeface="Figtree"/>
                        </a:rPr>
                        <a:t>[4]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52280" marR="152280" marT="101520" marB="101520">
                    <a:lnL w="12240">
                      <a:solidFill>
                        <a:srgbClr val="FFFCF7"/>
                      </a:solidFill>
                      <a:prstDash val="solid"/>
                    </a:lnL>
                    <a:lnR w="12240">
                      <a:solidFill>
                        <a:srgbClr val="FFFCF7"/>
                      </a:solidFill>
                      <a:prstDash val="solid"/>
                    </a:lnR>
                    <a:lnT w="12240">
                      <a:solidFill>
                        <a:srgbClr val="E2D3CE"/>
                      </a:solidFill>
                      <a:prstDash val="solid"/>
                    </a:lnT>
                    <a:lnB w="12240">
                      <a:solidFill>
                        <a:srgbClr val="E2D3C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52280" tIns="101520" rIns="152280" bIns="1015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420C1C"/>
                          </a:solidFill>
                          <a:effectLst/>
                          <a:uFillTx/>
                          <a:latin typeface="Figtree"/>
                          <a:ea typeface="Figtree"/>
                        </a:rPr>
                        <a:t>Laurie et al., RFC 6962, 2013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52280" marR="152280" marT="101520" marB="101520">
                    <a:lnL w="12240">
                      <a:solidFill>
                        <a:srgbClr val="FFFCF7"/>
                      </a:solidFill>
                      <a:prstDash val="solid"/>
                    </a:lnL>
                    <a:lnR w="12240">
                      <a:solidFill>
                        <a:srgbClr val="FFFCF7"/>
                      </a:solidFill>
                      <a:prstDash val="solid"/>
                    </a:lnR>
                    <a:lnT w="12240">
                      <a:solidFill>
                        <a:srgbClr val="E2D3CE"/>
                      </a:solidFill>
                      <a:prstDash val="solid"/>
                    </a:lnT>
                    <a:lnB w="12240">
                      <a:solidFill>
                        <a:srgbClr val="E2D3C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52280" tIns="101520" rIns="152280" bIns="1015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420C1C"/>
                          </a:solidFill>
                          <a:effectLst/>
                          <a:uFillTx/>
                          <a:latin typeface="Figtree"/>
                          <a:ea typeface="Figtree"/>
                        </a:rPr>
                        <a:t>Public append-only Merkle transparency logs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52280" marR="152280" marT="101520" marB="101520">
                    <a:lnL w="12240">
                      <a:solidFill>
                        <a:srgbClr val="FFFCF7"/>
                      </a:solidFill>
                      <a:prstDash val="solid"/>
                    </a:lnL>
                    <a:lnR w="12240">
                      <a:solidFill>
                        <a:srgbClr val="FFFCF7"/>
                      </a:solidFill>
                      <a:prstDash val="solid"/>
                    </a:lnR>
                    <a:lnT w="12240">
                      <a:solidFill>
                        <a:srgbClr val="E2D3CE"/>
                      </a:solidFill>
                      <a:prstDash val="solid"/>
                    </a:lnT>
                    <a:lnB w="12240">
                      <a:solidFill>
                        <a:srgbClr val="E2D3C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52280" tIns="101520" rIns="152280" bIns="1015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420C1C"/>
                          </a:solidFill>
                          <a:effectLst/>
                          <a:uFillTx/>
                          <a:latin typeface="Figtree"/>
                          <a:ea typeface="Figtree"/>
                        </a:rPr>
                        <a:t>Inspires checkpoint transparency; tailored for physical goods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52280" marR="152280" marT="101520" marB="101520">
                    <a:lnL w="12240">
                      <a:solidFill>
                        <a:srgbClr val="FFFCF7"/>
                      </a:solidFill>
                      <a:prstDash val="solid"/>
                    </a:lnL>
                    <a:lnR w="12240">
                      <a:solidFill>
                        <a:srgbClr val="FFFCF7"/>
                      </a:solidFill>
                      <a:prstDash val="solid"/>
                    </a:lnR>
                    <a:lnT w="12240">
                      <a:solidFill>
                        <a:srgbClr val="E2D3CE"/>
                      </a:solidFill>
                      <a:prstDash val="solid"/>
                    </a:lnT>
                    <a:lnB w="12240">
                      <a:solidFill>
                        <a:srgbClr val="E2D3CE"/>
                      </a:solidFill>
                      <a:prstDash val="solid"/>
                    </a:lnB>
                    <a:noFill/>
                  </a:tcPr>
                </a:tc>
              </a:tr>
              <a:tr h="568440">
                <a:tc>
                  <a:txBody>
                    <a:bodyPr lIns="152280" tIns="101520" rIns="152280" bIns="1015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420C1C"/>
                          </a:solidFill>
                          <a:effectLst/>
                          <a:uFillTx/>
                          <a:latin typeface="Figtree"/>
                          <a:ea typeface="Figtree"/>
                        </a:rPr>
                        <a:t>[5]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52280" marR="152280" marT="101520" marB="101520">
                    <a:lnL w="12240">
                      <a:solidFill>
                        <a:srgbClr val="FFFCF7"/>
                      </a:solidFill>
                      <a:prstDash val="solid"/>
                    </a:lnL>
                    <a:lnR w="12240">
                      <a:solidFill>
                        <a:srgbClr val="FFFCF7"/>
                      </a:solidFill>
                      <a:prstDash val="solid"/>
                    </a:lnR>
                    <a:lnT w="12240">
                      <a:solidFill>
                        <a:srgbClr val="E2D3CE"/>
                      </a:solidFill>
                      <a:prstDash val="solid"/>
                    </a:lnT>
                    <a:lnB w="12240">
                      <a:solidFill>
                        <a:srgbClr val="E2D3C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52280" tIns="101520" rIns="152280" bIns="1015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420C1C"/>
                          </a:solidFill>
                          <a:effectLst/>
                          <a:uFillTx/>
                          <a:latin typeface="Figtree"/>
                          <a:ea typeface="Figtree"/>
                        </a:rPr>
                        <a:t>Crosby &amp; Wallach, 2009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52280" marR="152280" marT="101520" marB="101520">
                    <a:lnL w="12240">
                      <a:solidFill>
                        <a:srgbClr val="FFFCF7"/>
                      </a:solidFill>
                      <a:prstDash val="solid"/>
                    </a:lnL>
                    <a:lnR w="12240">
                      <a:solidFill>
                        <a:srgbClr val="FFFCF7"/>
                      </a:solidFill>
                      <a:prstDash val="solid"/>
                    </a:lnR>
                    <a:lnT w="12240">
                      <a:solidFill>
                        <a:srgbClr val="E2D3CE"/>
                      </a:solidFill>
                      <a:prstDash val="solid"/>
                    </a:lnT>
                    <a:lnB w="12240">
                      <a:solidFill>
                        <a:srgbClr val="E2D3C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52280" tIns="101520" rIns="152280" bIns="1015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420C1C"/>
                          </a:solidFill>
                          <a:effectLst/>
                          <a:uFillTx/>
                          <a:latin typeface="Figtree"/>
                          <a:ea typeface="Figtree"/>
                        </a:rPr>
                        <a:t>Tamper-evident, publicly auditable logs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52280" marR="152280" marT="101520" marB="101520">
                    <a:lnL w="12240">
                      <a:solidFill>
                        <a:srgbClr val="FFFCF7"/>
                      </a:solidFill>
                      <a:prstDash val="solid"/>
                    </a:lnL>
                    <a:lnR w="12240">
                      <a:solidFill>
                        <a:srgbClr val="FFFCF7"/>
                      </a:solidFill>
                      <a:prstDash val="solid"/>
                    </a:lnR>
                    <a:lnT w="12240">
                      <a:solidFill>
                        <a:srgbClr val="E2D3CE"/>
                      </a:solidFill>
                      <a:prstDash val="solid"/>
                    </a:lnT>
                    <a:lnB w="12240">
                      <a:solidFill>
                        <a:srgbClr val="E2D3C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52280" tIns="101520" rIns="152280" bIns="1015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420C1C"/>
                          </a:solidFill>
                          <a:effectLst/>
                          <a:uFillTx/>
                          <a:latin typeface="Figtree"/>
                          <a:ea typeface="Figtree"/>
                        </a:rPr>
                        <a:t>Allows external verification without trusting server operator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52280" marR="152280" marT="101520" marB="101520">
                    <a:lnL w="12240">
                      <a:solidFill>
                        <a:srgbClr val="FFFCF7"/>
                      </a:solidFill>
                      <a:prstDash val="solid"/>
                    </a:lnL>
                    <a:lnR w="12240">
                      <a:solidFill>
                        <a:srgbClr val="FFFCF7"/>
                      </a:solidFill>
                      <a:prstDash val="solid"/>
                    </a:lnR>
                    <a:lnT w="12240">
                      <a:solidFill>
                        <a:srgbClr val="E2D3CE"/>
                      </a:solidFill>
                      <a:prstDash val="solid"/>
                    </a:lnT>
                    <a:lnB w="12240">
                      <a:solidFill>
                        <a:srgbClr val="E2D3CE"/>
                      </a:solidFill>
                      <a:prstDash val="solid"/>
                    </a:lnB>
                    <a:noFill/>
                  </a:tcPr>
                </a:tc>
              </a:tr>
              <a:tr h="568440">
                <a:tc>
                  <a:txBody>
                    <a:bodyPr lIns="152280" tIns="101520" rIns="152280" bIns="1015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420C1C"/>
                          </a:solidFill>
                          <a:effectLst/>
                          <a:uFillTx/>
                          <a:latin typeface="Figtree"/>
                          <a:ea typeface="Figtree"/>
                        </a:rPr>
                        <a:t>[6]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52280" marR="152280" marT="101520" marB="101520">
                    <a:lnL w="12240">
                      <a:solidFill>
                        <a:srgbClr val="FFFCF7"/>
                      </a:solidFill>
                      <a:prstDash val="solid"/>
                    </a:lnL>
                    <a:lnR w="12240">
                      <a:solidFill>
                        <a:srgbClr val="FFFCF7"/>
                      </a:solidFill>
                      <a:prstDash val="solid"/>
                    </a:lnR>
                    <a:lnT w="12240">
                      <a:solidFill>
                        <a:srgbClr val="E2D3CE"/>
                      </a:solidFill>
                      <a:prstDash val="solid"/>
                    </a:lnT>
                    <a:lnB w="12240">
                      <a:solidFill>
                        <a:srgbClr val="E2D3C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52280" tIns="101520" rIns="152280" bIns="1015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420C1C"/>
                          </a:solidFill>
                          <a:effectLst/>
                          <a:uFillTx/>
                          <a:latin typeface="Figtree"/>
                          <a:ea typeface="Figtree"/>
                        </a:rPr>
                        <a:t>Nakamoto, 2008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52280" marR="152280" marT="101520" marB="101520">
                    <a:lnL w="12240">
                      <a:solidFill>
                        <a:srgbClr val="FFFCF7"/>
                      </a:solidFill>
                      <a:prstDash val="solid"/>
                    </a:lnL>
                    <a:lnR w="12240">
                      <a:solidFill>
                        <a:srgbClr val="FFFCF7"/>
                      </a:solidFill>
                      <a:prstDash val="solid"/>
                    </a:lnR>
                    <a:lnT w="12240">
                      <a:solidFill>
                        <a:srgbClr val="E2D3CE"/>
                      </a:solidFill>
                      <a:prstDash val="solid"/>
                    </a:lnT>
                    <a:lnB w="12240">
                      <a:solidFill>
                        <a:srgbClr val="E2D3C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52280" tIns="101520" rIns="152280" bIns="1015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420C1C"/>
                          </a:solidFill>
                          <a:effectLst/>
                          <a:uFillTx/>
                          <a:latin typeface="Figtree"/>
                          <a:ea typeface="Figtree"/>
                        </a:rPr>
                        <a:t>Consensus-backed decentralized ledger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52280" marR="152280" marT="101520" marB="101520">
                    <a:lnL w="12240">
                      <a:solidFill>
                        <a:srgbClr val="FFFCF7"/>
                      </a:solidFill>
                      <a:prstDash val="solid"/>
                    </a:lnL>
                    <a:lnR w="12240">
                      <a:solidFill>
                        <a:srgbClr val="FFFCF7"/>
                      </a:solidFill>
                      <a:prstDash val="solid"/>
                    </a:lnR>
                    <a:lnT w="12240">
                      <a:solidFill>
                        <a:srgbClr val="E2D3CE"/>
                      </a:solidFill>
                      <a:prstDash val="solid"/>
                    </a:lnT>
                    <a:lnB w="12240">
                      <a:solidFill>
                        <a:srgbClr val="E2D3C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52280" tIns="101520" rIns="152280" bIns="1015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420C1C"/>
                          </a:solidFill>
                          <a:effectLst/>
                          <a:uFillTx/>
                          <a:latin typeface="Figtree"/>
                          <a:ea typeface="Figtree"/>
                        </a:rPr>
                        <a:t>Demonstrates blockchain weight; informs elimination of mining/gas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52280" marR="152280" marT="101520" marB="101520">
                    <a:lnL w="12240">
                      <a:solidFill>
                        <a:srgbClr val="FFFCF7"/>
                      </a:solidFill>
                      <a:prstDash val="solid"/>
                    </a:lnL>
                    <a:lnR w="12240">
                      <a:solidFill>
                        <a:srgbClr val="FFFCF7"/>
                      </a:solidFill>
                      <a:prstDash val="solid"/>
                    </a:lnR>
                    <a:lnT w="12240">
                      <a:solidFill>
                        <a:srgbClr val="E2D3CE"/>
                      </a:solidFill>
                      <a:prstDash val="solid"/>
                    </a:lnT>
                    <a:lnB w="12240">
                      <a:solidFill>
                        <a:srgbClr val="E2D3CE"/>
                      </a:solidFill>
                      <a:prstDash val="solid"/>
                    </a:lnB>
                    <a:noFill/>
                  </a:tcPr>
                </a:tc>
              </a:tr>
              <a:tr h="561960">
                <a:tc>
                  <a:txBody>
                    <a:bodyPr lIns="152280" tIns="101520" rIns="152280" bIns="1015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420C1C"/>
                          </a:solidFill>
                          <a:effectLst/>
                          <a:uFillTx/>
                          <a:latin typeface="Figtree"/>
                          <a:ea typeface="Figtree"/>
                        </a:rPr>
                        <a:t>[7]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52280" marR="152280" marT="101520" marB="101520">
                    <a:lnL w="12240">
                      <a:solidFill>
                        <a:srgbClr val="FFFCF7"/>
                      </a:solidFill>
                      <a:prstDash val="solid"/>
                    </a:lnL>
                    <a:lnR w="12240">
                      <a:solidFill>
                        <a:srgbClr val="FFFCF7"/>
                      </a:solidFill>
                      <a:prstDash val="solid"/>
                    </a:lnR>
                    <a:lnT w="12240">
                      <a:solidFill>
                        <a:srgbClr val="E2D3CE"/>
                      </a:solidFill>
                      <a:prstDash val="solid"/>
                    </a:lnT>
                    <a:lnB w="12240">
                      <a:solidFill>
                        <a:srgbClr val="FFFCF7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52280" tIns="101520" rIns="152280" bIns="1015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420C1C"/>
                          </a:solidFill>
                          <a:effectLst/>
                          <a:uFillTx/>
                          <a:latin typeface="Figtree"/>
                          <a:ea typeface="Figtree"/>
                        </a:rPr>
                        <a:t>Kshetri, 2018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52280" marR="152280" marT="101520" marB="101520">
                    <a:lnL w="12240">
                      <a:solidFill>
                        <a:srgbClr val="FFFCF7"/>
                      </a:solidFill>
                      <a:prstDash val="solid"/>
                    </a:lnL>
                    <a:lnR w="12240">
                      <a:solidFill>
                        <a:srgbClr val="FFFCF7"/>
                      </a:solidFill>
                      <a:prstDash val="solid"/>
                    </a:lnR>
                    <a:lnT w="12240">
                      <a:solidFill>
                        <a:srgbClr val="E2D3CE"/>
                      </a:solidFill>
                      <a:prstDash val="solid"/>
                    </a:lnT>
                    <a:lnB w="12240">
                      <a:solidFill>
                        <a:srgbClr val="FFFCF7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52280" tIns="101520" rIns="152280" bIns="1015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420C1C"/>
                          </a:solidFill>
                          <a:effectLst/>
                          <a:uFillTx/>
                          <a:latin typeface="Figtree"/>
                          <a:ea typeface="Figtree"/>
                        </a:rPr>
                        <a:t>Blockchain architectures for supply chains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52280" marR="152280" marT="101520" marB="101520">
                    <a:lnL w="12240">
                      <a:solidFill>
                        <a:srgbClr val="FFFCF7"/>
                      </a:solidFill>
                      <a:prstDash val="solid"/>
                    </a:lnL>
                    <a:lnR w="12240">
                      <a:solidFill>
                        <a:srgbClr val="FFFCF7"/>
                      </a:solidFill>
                      <a:prstDash val="solid"/>
                    </a:lnR>
                    <a:lnT w="12240">
                      <a:solidFill>
                        <a:srgbClr val="E2D3CE"/>
                      </a:solidFill>
                      <a:prstDash val="solid"/>
                    </a:lnT>
                    <a:lnB w="12240">
                      <a:solidFill>
                        <a:srgbClr val="FFFCF7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52280" tIns="101520" rIns="152280" bIns="1015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420C1C"/>
                          </a:solidFill>
                          <a:effectLst/>
                          <a:uFillTx/>
                          <a:latin typeface="Figtree"/>
                          <a:ea typeface="Figtree"/>
                        </a:rPr>
                        <a:t>Exposes adoption hurdle when universal onboarding is mandated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52280" marR="152280" marT="101520" marB="101520">
                    <a:lnL w="12240">
                      <a:solidFill>
                        <a:srgbClr val="FFFCF7"/>
                      </a:solidFill>
                      <a:prstDash val="solid"/>
                    </a:lnL>
                    <a:lnR w="12240">
                      <a:solidFill>
                        <a:srgbClr val="FFFCF7"/>
                      </a:solidFill>
                      <a:prstDash val="solid"/>
                    </a:lnR>
                    <a:lnT w="12240">
                      <a:solidFill>
                        <a:srgbClr val="E2D3CE"/>
                      </a:solidFill>
                      <a:prstDash val="solid"/>
                    </a:lnT>
                    <a:lnB w="12240">
                      <a:solidFill>
                        <a:srgbClr val="FFFCF7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5" name="Shape 3"/>
          <p:cNvSpPr/>
          <p:nvPr/>
        </p:nvSpPr>
        <p:spPr>
          <a:xfrm>
            <a:off x="812880" y="6549480"/>
            <a:ext cx="10565640" cy="18720"/>
          </a:xfrm>
          <a:prstGeom prst="roundRect">
            <a:avLst>
              <a:gd name="adj" fmla="val 49999"/>
            </a:avLst>
          </a:prstGeom>
          <a:solidFill>
            <a:srgbClr val="E2D3C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1320" rIns="90000" bIns="-3132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Text 4"/>
          <p:cNvSpPr/>
          <p:nvPr/>
        </p:nvSpPr>
        <p:spPr>
          <a:xfrm>
            <a:off x="812880" y="6586200"/>
            <a:ext cx="11175480" cy="14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8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7A5C60"/>
                </a:solidFill>
                <a:effectLst/>
                <a:uFillTx/>
                <a:latin typeface="Figtree"/>
                <a:ea typeface="Figtree"/>
              </a:rPr>
              <a:t>Research </a:t>
            </a:r>
            <a:r>
              <a:rPr lang="en-US" sz="900" b="0" u="none" strike="noStrike">
                <a:solidFill>
                  <a:srgbClr val="7A5C60"/>
                </a:solidFill>
                <a:effectLst/>
                <a:uFillTx/>
                <a:latin typeface="Figtree"/>
                <a:ea typeface="Figtree"/>
              </a:rPr>
              <a:t>gap: </a:t>
            </a:r>
            <a:r>
              <a:rPr lang="en-US" sz="900" b="0" u="none" strike="noStrike">
                <a:solidFill>
                  <a:srgbClr val="7A5C60"/>
                </a:solidFill>
                <a:effectLst/>
                <a:uFillTx/>
                <a:latin typeface="Figtree"/>
                <a:ea typeface="Figtree"/>
              </a:rPr>
              <a:t>Prior </a:t>
            </a:r>
            <a:r>
              <a:rPr lang="en-US" sz="900" b="0" u="none" strike="noStrike">
                <a:solidFill>
                  <a:srgbClr val="7A5C60"/>
                </a:solidFill>
                <a:effectLst/>
                <a:uFillTx/>
                <a:latin typeface="Figtree"/>
                <a:ea typeface="Figtree"/>
              </a:rPr>
              <a:t>work </a:t>
            </a:r>
            <a:r>
              <a:rPr lang="en-US" sz="900" b="0" u="none" strike="noStrike">
                <a:solidFill>
                  <a:srgbClr val="7A5C60"/>
                </a:solidFill>
                <a:effectLst/>
                <a:uFillTx/>
                <a:latin typeface="Figtree"/>
                <a:ea typeface="Figtree"/>
              </a:rPr>
              <a:t>either </a:t>
            </a:r>
            <a:r>
              <a:rPr lang="en-US" sz="900" b="0" u="none" strike="noStrike">
                <a:solidFill>
                  <a:srgbClr val="7A5C60"/>
                </a:solidFill>
                <a:effectLst/>
                <a:uFillTx/>
                <a:latin typeface="Figtree"/>
                <a:ea typeface="Figtree"/>
              </a:rPr>
              <a:t>targets </a:t>
            </a:r>
            <a:r>
              <a:rPr lang="en-US" sz="900" b="0" u="none" strike="noStrike">
                <a:solidFill>
                  <a:srgbClr val="7A5C60"/>
                </a:solidFill>
                <a:effectLst/>
                <a:uFillTx/>
                <a:latin typeface="Figtree"/>
                <a:ea typeface="Figtree"/>
              </a:rPr>
              <a:t>digital </a:t>
            </a:r>
            <a:r>
              <a:rPr lang="en-US" sz="900" b="0" u="none" strike="noStrike">
                <a:solidFill>
                  <a:srgbClr val="7A5C60"/>
                </a:solidFill>
                <a:effectLst/>
                <a:uFillTx/>
                <a:latin typeface="Figtree"/>
                <a:ea typeface="Figtree"/>
              </a:rPr>
              <a:t>TLS </a:t>
            </a:r>
            <a:r>
              <a:rPr lang="en-US" sz="900" b="0" u="none" strike="noStrike">
                <a:solidFill>
                  <a:srgbClr val="7A5C60"/>
                </a:solidFill>
                <a:effectLst/>
                <a:uFillTx/>
                <a:latin typeface="Figtree"/>
                <a:ea typeface="Figtree"/>
              </a:rPr>
              <a:t>certificat</a:t>
            </a:r>
            <a:r>
              <a:rPr lang="en-US" sz="900" b="0" u="none" strike="noStrike">
                <a:solidFill>
                  <a:srgbClr val="7A5C60"/>
                </a:solidFill>
                <a:effectLst/>
                <a:uFillTx/>
                <a:latin typeface="Figtree"/>
                <a:ea typeface="Figtree"/>
              </a:rPr>
              <a:t>es [4] or </a:t>
            </a:r>
            <a:r>
              <a:rPr lang="en-US" sz="900" b="0" u="none" strike="noStrike">
                <a:solidFill>
                  <a:srgbClr val="7A5C60"/>
                </a:solidFill>
                <a:effectLst/>
                <a:uFillTx/>
                <a:latin typeface="Figtree"/>
                <a:ea typeface="Figtree"/>
              </a:rPr>
              <a:t>assumes </a:t>
            </a:r>
            <a:r>
              <a:rPr lang="en-US" sz="900" b="0" u="none" strike="noStrike">
                <a:solidFill>
                  <a:srgbClr val="7A5C60"/>
                </a:solidFill>
                <a:effectLst/>
                <a:uFillTx/>
                <a:latin typeface="Figtree"/>
                <a:ea typeface="Figtree"/>
              </a:rPr>
              <a:t>universal </a:t>
            </a:r>
            <a:r>
              <a:rPr lang="en-US" sz="900" b="0" u="none" strike="noStrike">
                <a:solidFill>
                  <a:srgbClr val="7A5C60"/>
                </a:solidFill>
                <a:effectLst/>
                <a:uFillTx/>
                <a:latin typeface="Figtree"/>
                <a:ea typeface="Figtree"/>
              </a:rPr>
              <a:t>wallet </a:t>
            </a:r>
            <a:r>
              <a:rPr lang="en-US" sz="900" b="0" u="none" strike="noStrike">
                <a:solidFill>
                  <a:srgbClr val="7A5C60"/>
                </a:solidFill>
                <a:effectLst/>
                <a:uFillTx/>
                <a:latin typeface="Figtree"/>
                <a:ea typeface="Figtree"/>
              </a:rPr>
              <a:t>onboardi</a:t>
            </a:r>
            <a:r>
              <a:rPr lang="en-US" sz="900" b="0" u="none" strike="noStrike">
                <a:solidFill>
                  <a:srgbClr val="7A5C60"/>
                </a:solidFill>
                <a:effectLst/>
                <a:uFillTx/>
                <a:latin typeface="Figtree"/>
                <a:ea typeface="Figtree"/>
              </a:rPr>
              <a:t>ng [6, 7].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0"/>
          <p:cNvSpPr/>
          <p:nvPr/>
        </p:nvSpPr>
        <p:spPr>
          <a:xfrm>
            <a:off x="812880" y="814680"/>
            <a:ext cx="11175480" cy="20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8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7A5C60"/>
                </a:solidFill>
                <a:effectLst/>
                <a:uFillTx/>
                <a:latin typeface="Figtree Medium"/>
                <a:ea typeface="Figtree Medium"/>
              </a:rPr>
              <a:t>COMP</a:t>
            </a:r>
            <a:r>
              <a:rPr lang="en-US" sz="1200" b="0" u="none" strike="noStrike">
                <a:solidFill>
                  <a:srgbClr val="7A5C60"/>
                </a:solidFill>
                <a:effectLst/>
                <a:uFillTx/>
                <a:latin typeface="Figtree Medium"/>
                <a:ea typeface="Figtree Medium"/>
              </a:rPr>
              <a:t>ARATI</a:t>
            </a:r>
            <a:r>
              <a:rPr lang="en-US" sz="1200" b="0" u="none" strike="noStrike">
                <a:solidFill>
                  <a:srgbClr val="7A5C60"/>
                </a:solidFill>
                <a:effectLst/>
                <a:uFillTx/>
                <a:latin typeface="Figtree Medium"/>
                <a:ea typeface="Figtree Medium"/>
              </a:rPr>
              <a:t>VE </a:t>
            </a:r>
            <a:r>
              <a:rPr lang="en-US" sz="1200" b="0" u="none" strike="noStrike">
                <a:solidFill>
                  <a:srgbClr val="7A5C60"/>
                </a:solidFill>
                <a:effectLst/>
                <a:uFillTx/>
                <a:latin typeface="Figtree Medium"/>
                <a:ea typeface="Figtree Medium"/>
              </a:rPr>
              <a:t>NOVE</a:t>
            </a:r>
            <a:r>
              <a:rPr lang="en-US" sz="1200" b="0" u="none" strike="noStrike">
                <a:solidFill>
                  <a:srgbClr val="7A5C60"/>
                </a:solidFill>
                <a:effectLst/>
                <a:uFillTx/>
                <a:latin typeface="Figtree Medium"/>
                <a:ea typeface="Figtree Medium"/>
              </a:rPr>
              <a:t>LTY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1"/>
          <p:cNvSpPr/>
          <p:nvPr/>
        </p:nvSpPr>
        <p:spPr>
          <a:xfrm>
            <a:off x="812880" y="1135800"/>
            <a:ext cx="9143280" cy="37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87000"/>
              </a:lnSpc>
              <a:tabLst>
                <a:tab pos="0" algn="l"/>
              </a:tabLst>
            </a:pPr>
            <a:r>
              <a:rPr lang="en-US" sz="2800" b="0" u="none" spc="-43" strike="noStrike">
                <a:solidFill>
                  <a:srgbClr val="420C1C"/>
                </a:solidFill>
                <a:effectLst/>
                <a:uFillTx/>
                <a:latin typeface="Cormorant Garamond SemiBold"/>
                <a:ea typeface="Cormorant Garamond SemiBold"/>
              </a:rPr>
              <a:t>Th</a:t>
            </a:r>
            <a:r>
              <a:rPr lang="en-US" sz="2800" b="0" u="none" spc="-43" strike="noStrike">
                <a:solidFill>
                  <a:srgbClr val="420C1C"/>
                </a:solidFill>
                <a:effectLst/>
                <a:uFillTx/>
                <a:latin typeface="Cormorant Garamond SemiBold"/>
                <a:ea typeface="Cormorant Garamond SemiBold"/>
              </a:rPr>
              <a:t>e </a:t>
            </a:r>
            <a:r>
              <a:rPr lang="en-US" sz="2800" b="0" u="none" spc="-43" strike="noStrike">
                <a:solidFill>
                  <a:srgbClr val="420C1C"/>
                </a:solidFill>
                <a:effectLst/>
                <a:uFillTx/>
                <a:latin typeface="Cormorant Garamond SemiBold"/>
                <a:ea typeface="Cormorant Garamond SemiBold"/>
              </a:rPr>
              <a:t>no</a:t>
            </a:r>
            <a:r>
              <a:rPr lang="en-US" sz="2800" b="0" u="none" spc="-43" strike="noStrike">
                <a:solidFill>
                  <a:srgbClr val="420C1C"/>
                </a:solidFill>
                <a:effectLst/>
                <a:uFillTx/>
                <a:latin typeface="Cormorant Garamond SemiBold"/>
                <a:ea typeface="Cormorant Garamond SemiBold"/>
              </a:rPr>
              <a:t>vel</a:t>
            </a:r>
            <a:r>
              <a:rPr lang="en-US" sz="2800" b="0" u="none" spc="-43" strike="noStrike">
                <a:solidFill>
                  <a:srgbClr val="420C1C"/>
                </a:solidFill>
                <a:effectLst/>
                <a:uFillTx/>
                <a:latin typeface="Cormorant Garamond SemiBold"/>
                <a:ea typeface="Cormorant Garamond SemiBold"/>
              </a:rPr>
              <a:t>ty </a:t>
            </a:r>
            <a:r>
              <a:rPr lang="en-US" sz="2800" b="0" u="none" spc="-43" strike="noStrike">
                <a:solidFill>
                  <a:srgbClr val="420C1C"/>
                </a:solidFill>
                <a:effectLst/>
                <a:uFillTx/>
                <a:latin typeface="Cormorant Garamond SemiBold"/>
                <a:ea typeface="Cormorant Garamond SemiBold"/>
              </a:rPr>
              <a:t>is </a:t>
            </a:r>
            <a:r>
              <a:rPr lang="en-US" sz="2800" b="0" u="none" spc="-43" strike="noStrike">
                <a:solidFill>
                  <a:srgbClr val="420C1C"/>
                </a:solidFill>
                <a:effectLst/>
                <a:uFillTx/>
                <a:latin typeface="Cormorant Garamond SemiBold"/>
                <a:ea typeface="Cormorant Garamond SemiBold"/>
              </a:rPr>
              <a:t>the </a:t>
            </a:r>
            <a:r>
              <a:rPr lang="en-US" sz="2800" b="0" u="none" spc="-43" strike="noStrike">
                <a:solidFill>
                  <a:srgbClr val="420C1C"/>
                </a:solidFill>
                <a:effectLst/>
                <a:uFillTx/>
                <a:latin typeface="Cormorant Garamond SemiBold"/>
                <a:ea typeface="Cormorant Garamond SemiBold"/>
              </a:rPr>
              <a:t>pro</a:t>
            </a:r>
            <a:r>
              <a:rPr lang="en-US" sz="2800" b="0" u="none" spc="-43" strike="noStrike">
                <a:solidFill>
                  <a:srgbClr val="420C1C"/>
                </a:solidFill>
                <a:effectLst/>
                <a:uFillTx/>
                <a:latin typeface="Cormorant Garamond SemiBold"/>
                <a:ea typeface="Cormorant Garamond SemiBold"/>
              </a:rPr>
              <a:t>toc</a:t>
            </a:r>
            <a:r>
              <a:rPr lang="en-US" sz="2800" b="0" u="none" spc="-43" strike="noStrike">
                <a:solidFill>
                  <a:srgbClr val="420C1C"/>
                </a:solidFill>
                <a:effectLst/>
                <a:uFillTx/>
                <a:latin typeface="Cormorant Garamond SemiBold"/>
                <a:ea typeface="Cormorant Garamond SemiBold"/>
              </a:rPr>
              <a:t>ol </a:t>
            </a:r>
            <a:r>
              <a:rPr lang="en-US" sz="2800" b="0" u="none" spc="-43" strike="noStrike">
                <a:solidFill>
                  <a:srgbClr val="420C1C"/>
                </a:solidFill>
                <a:effectLst/>
                <a:uFillTx/>
                <a:latin typeface="Cormorant Garamond SemiBold"/>
                <a:ea typeface="Cormorant Garamond SemiBold"/>
              </a:rPr>
              <a:t>co</a:t>
            </a:r>
            <a:r>
              <a:rPr lang="en-US" sz="2800" b="0" u="none" spc="-43" strike="noStrike">
                <a:solidFill>
                  <a:srgbClr val="420C1C"/>
                </a:solidFill>
                <a:effectLst/>
                <a:uFillTx/>
                <a:latin typeface="Cormorant Garamond SemiBold"/>
                <a:ea typeface="Cormorant Garamond SemiBold"/>
              </a:rPr>
              <a:t>mb</a:t>
            </a:r>
            <a:r>
              <a:rPr lang="en-US" sz="2800" b="0" u="none" spc="-43" strike="noStrike">
                <a:solidFill>
                  <a:srgbClr val="420C1C"/>
                </a:solidFill>
                <a:effectLst/>
                <a:uFillTx/>
                <a:latin typeface="Cormorant Garamond SemiBold"/>
                <a:ea typeface="Cormorant Garamond SemiBold"/>
              </a:rPr>
              <a:t>ina</a:t>
            </a:r>
            <a:r>
              <a:rPr lang="en-US" sz="2800" b="0" u="none" spc="-43" strike="noStrike">
                <a:solidFill>
                  <a:srgbClr val="420C1C"/>
                </a:solidFill>
                <a:effectLst/>
                <a:uFillTx/>
                <a:latin typeface="Cormorant Garamond SemiBold"/>
                <a:ea typeface="Cormorant Garamond SemiBold"/>
              </a:rPr>
              <a:t>tio</a:t>
            </a:r>
            <a:r>
              <a:rPr lang="en-US" sz="2800" b="0" u="none" spc="-43" strike="noStrike">
                <a:solidFill>
                  <a:srgbClr val="420C1C"/>
                </a:solidFill>
                <a:effectLst/>
                <a:uFillTx/>
                <a:latin typeface="Cormorant Garamond SemiBold"/>
                <a:ea typeface="Cormorant Garamond SemiBold"/>
              </a:rPr>
              <a:t>n, </a:t>
            </a:r>
            <a:r>
              <a:rPr lang="en-US" sz="2800" b="0" u="none" spc="-43" strike="noStrike">
                <a:solidFill>
                  <a:srgbClr val="420C1C"/>
                </a:solidFill>
                <a:effectLst/>
                <a:uFillTx/>
                <a:latin typeface="Cormorant Garamond SemiBold"/>
                <a:ea typeface="Cormorant Garamond SemiBold"/>
              </a:rPr>
              <a:t>not </a:t>
            </a:r>
            <a:r>
              <a:rPr lang="en-US" sz="2800" b="0" u="none" spc="-43" strike="noStrike">
                <a:solidFill>
                  <a:srgbClr val="420C1C"/>
                </a:solidFill>
                <a:effectLst/>
                <a:uFillTx/>
                <a:latin typeface="Cormorant Garamond SemiBold"/>
                <a:ea typeface="Cormorant Garamond SemiBold"/>
              </a:rPr>
              <a:t>the </a:t>
            </a:r>
            <a:r>
              <a:rPr lang="en-US" sz="2800" b="0" u="none" spc="-43" strike="noStrike">
                <a:solidFill>
                  <a:srgbClr val="420C1C"/>
                </a:solidFill>
                <a:effectLst/>
                <a:uFillTx/>
                <a:latin typeface="Cormorant Garamond SemiBold"/>
                <a:ea typeface="Cormorant Garamond SemiBold"/>
              </a:rPr>
              <a:t>pri</a:t>
            </a:r>
            <a:r>
              <a:rPr lang="en-US" sz="2800" b="0" u="none" spc="-43" strike="noStrike">
                <a:solidFill>
                  <a:srgbClr val="420C1C"/>
                </a:solidFill>
                <a:effectLst/>
                <a:uFillTx/>
                <a:latin typeface="Cormorant Garamond SemiBold"/>
                <a:ea typeface="Cormorant Garamond SemiBold"/>
              </a:rPr>
              <a:t>mit</a:t>
            </a:r>
            <a:r>
              <a:rPr lang="en-US" sz="2800" b="0" u="none" spc="-43" strike="noStrike">
                <a:solidFill>
                  <a:srgbClr val="420C1C"/>
                </a:solidFill>
                <a:effectLst/>
                <a:uFillTx/>
                <a:latin typeface="Cormorant Garamond SemiBold"/>
                <a:ea typeface="Cormorant Garamond SemiBold"/>
              </a:rPr>
              <a:t>ive</a:t>
            </a:r>
            <a:r>
              <a:rPr lang="en-US" sz="2800" b="0" u="none" spc="-43" strike="noStrike">
                <a:solidFill>
                  <a:srgbClr val="420C1C"/>
                </a:solidFill>
                <a:effectLst/>
                <a:uFillTx/>
                <a:latin typeface="Cormorant Garamond SemiBold"/>
                <a:ea typeface="Cormorant Garamond SemiBold"/>
              </a:rPr>
              <a:t>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39" name="Table 0"/>
          <p:cNvGraphicFramePr/>
          <p:nvPr/>
        </p:nvGraphicFramePr>
        <p:xfrm>
          <a:off x="812880" y="1740600"/>
          <a:ext cx="4766040" cy="4888800"/>
        </p:xfrm>
        <a:graphic>
          <a:graphicData uri="http://schemas.openxmlformats.org/drawingml/2006/table">
            <a:tbl>
              <a:tblPr/>
              <a:tblGrid>
                <a:gridCol w="2032920"/>
                <a:gridCol w="766800"/>
                <a:gridCol w="545760"/>
                <a:gridCol w="639000"/>
                <a:gridCol w="781920"/>
              </a:tblGrid>
              <a:tr h="934560">
                <a:tc>
                  <a:txBody>
                    <a:bodyPr lIns="152280" tIns="101520" rIns="152280" bIns="1015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420C1C"/>
                          </a:solidFill>
                          <a:effectLst/>
                          <a:uFillTx/>
                          <a:latin typeface="Figtree"/>
                          <a:ea typeface="Figtree"/>
                        </a:rPr>
                        <a:t>Feature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52280" marR="152280" marT="101520" marB="101520">
                    <a:lnL w="12240">
                      <a:solidFill>
                        <a:srgbClr val="FFFCF7"/>
                      </a:solidFill>
                      <a:prstDash val="solid"/>
                    </a:lnL>
                    <a:lnR w="12240">
                      <a:solidFill>
                        <a:srgbClr val="FFFCF7"/>
                      </a:solidFill>
                      <a:prstDash val="solid"/>
                    </a:lnR>
                    <a:lnT w="12240">
                      <a:solidFill>
                        <a:srgbClr val="FFFCF7"/>
                      </a:solidFill>
                      <a:prstDash val="solid"/>
                    </a:lnT>
                    <a:lnB w="12240">
                      <a:solidFill>
                        <a:srgbClr val="E2D3C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52280" tIns="101520" rIns="152280" bIns="1015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420C1C"/>
                          </a:solidFill>
                          <a:effectLst/>
                          <a:uFillTx/>
                          <a:latin typeface="Figtree"/>
                          <a:ea typeface="Figtree"/>
                        </a:rPr>
                        <a:t>Paper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52280" marR="152280" marT="101520" marB="101520">
                    <a:lnL w="12240">
                      <a:solidFill>
                        <a:srgbClr val="FFFCF7"/>
                      </a:solidFill>
                      <a:prstDash val="solid"/>
                    </a:lnL>
                    <a:lnR w="12240">
                      <a:solidFill>
                        <a:srgbClr val="FFFCF7"/>
                      </a:solidFill>
                      <a:prstDash val="solid"/>
                    </a:lnR>
                    <a:lnT w="12240">
                      <a:solidFill>
                        <a:srgbClr val="FFFCF7"/>
                      </a:solidFill>
                      <a:prstDash val="solid"/>
                    </a:lnT>
                    <a:lnB w="12240">
                      <a:solidFill>
                        <a:srgbClr val="E2D3C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52280" tIns="101520" rIns="152280" bIns="1015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420C1C"/>
                          </a:solidFill>
                          <a:effectLst/>
                          <a:uFillTx/>
                          <a:latin typeface="Figtree"/>
                          <a:ea typeface="Figtree"/>
                        </a:rPr>
                        <a:t>DB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52280" marR="152280" marT="101520" marB="101520">
                    <a:lnL w="12240">
                      <a:solidFill>
                        <a:srgbClr val="FFFCF7"/>
                      </a:solidFill>
                      <a:prstDash val="solid"/>
                    </a:lnL>
                    <a:lnR w="12240">
                      <a:solidFill>
                        <a:srgbClr val="FFFCF7"/>
                      </a:solidFill>
                      <a:prstDash val="solid"/>
                    </a:lnR>
                    <a:lnT w="12240">
                      <a:solidFill>
                        <a:srgbClr val="FFFCF7"/>
                      </a:solidFill>
                      <a:prstDash val="solid"/>
                    </a:lnT>
                    <a:lnB w="12240">
                      <a:solidFill>
                        <a:srgbClr val="E2D3C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52280" tIns="101520" rIns="152280" bIns="1015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420C1C"/>
                          </a:solidFill>
                          <a:effectLst/>
                          <a:uFillTx/>
                          <a:latin typeface="Figtree"/>
                          <a:ea typeface="Figtree"/>
                        </a:rPr>
                        <a:t>NFT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52280" marR="152280" marT="101520" marB="101520">
                    <a:lnL w="12240">
                      <a:solidFill>
                        <a:srgbClr val="FFFCF7"/>
                      </a:solidFill>
                      <a:prstDash val="solid"/>
                    </a:lnL>
                    <a:lnR w="12240">
                      <a:solidFill>
                        <a:srgbClr val="FFFCF7"/>
                      </a:solidFill>
                      <a:prstDash val="solid"/>
                    </a:lnR>
                    <a:lnT w="12240">
                      <a:solidFill>
                        <a:srgbClr val="FFFCF7"/>
                      </a:solidFill>
                      <a:prstDash val="solid"/>
                    </a:lnT>
                    <a:lnB w="12240">
                      <a:solidFill>
                        <a:srgbClr val="E2D3C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52280" tIns="101520" rIns="152280" bIns="1015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420C1C"/>
                          </a:solidFill>
                          <a:effectLst/>
                          <a:uFillTx/>
                          <a:latin typeface="Figtree"/>
                          <a:ea typeface="Figtree"/>
                        </a:rPr>
                        <a:t>CraftProof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52280" marR="152280" marT="101520" marB="101520">
                    <a:lnL w="12240">
                      <a:solidFill>
                        <a:srgbClr val="FFFCF7"/>
                      </a:solidFill>
                      <a:prstDash val="solid"/>
                    </a:lnL>
                    <a:lnR w="12240">
                      <a:solidFill>
                        <a:srgbClr val="FFFCF7"/>
                      </a:solidFill>
                      <a:prstDash val="solid"/>
                    </a:lnR>
                    <a:lnT w="12240">
                      <a:solidFill>
                        <a:srgbClr val="FFFCF7"/>
                      </a:solidFill>
                      <a:prstDash val="solid"/>
                    </a:lnT>
                    <a:lnB w="12240">
                      <a:solidFill>
                        <a:srgbClr val="E2D3CE"/>
                      </a:solidFill>
                      <a:prstDash val="solid"/>
                    </a:lnB>
                    <a:noFill/>
                  </a:tcPr>
                </a:tc>
              </a:tr>
              <a:tr h="886320">
                <a:tc>
                  <a:txBody>
                    <a:bodyPr lIns="152280" tIns="101520" rIns="152280" bIns="1015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1" u="none" strike="noStrike">
                          <a:solidFill>
                            <a:srgbClr val="420C1C"/>
                          </a:solidFill>
                          <a:effectLst/>
                          <a:uFillTx/>
                          <a:latin typeface="Figtree"/>
                          <a:ea typeface="Figtree"/>
                        </a:rPr>
                        <a:t>Tamper-evident history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52280" marR="152280" marT="101520" marB="101520">
                    <a:lnL w="12240">
                      <a:solidFill>
                        <a:srgbClr val="FFFCF7"/>
                      </a:solidFill>
                      <a:prstDash val="solid"/>
                    </a:lnL>
                    <a:lnR w="12240">
                      <a:solidFill>
                        <a:srgbClr val="FFFCF7"/>
                      </a:solidFill>
                      <a:prstDash val="solid"/>
                    </a:lnR>
                    <a:lnT w="12240">
                      <a:solidFill>
                        <a:srgbClr val="E2D3CE"/>
                      </a:solidFill>
                      <a:prstDash val="solid"/>
                    </a:lnT>
                    <a:lnB w="12240">
                      <a:solidFill>
                        <a:srgbClr val="E2D3C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52280" tIns="101520" rIns="152280" bIns="1015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420C1C"/>
                          </a:solidFill>
                          <a:effectLst/>
                          <a:uFillTx/>
                          <a:latin typeface="Figtree"/>
                          <a:ea typeface="Figtree"/>
                        </a:rPr>
                        <a:t>✗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52280" marR="152280" marT="101520" marB="101520">
                    <a:lnL w="12240">
                      <a:solidFill>
                        <a:srgbClr val="FFFCF7"/>
                      </a:solidFill>
                      <a:prstDash val="solid"/>
                    </a:lnL>
                    <a:lnR w="12240">
                      <a:solidFill>
                        <a:srgbClr val="FFFCF7"/>
                      </a:solidFill>
                      <a:prstDash val="solid"/>
                    </a:lnR>
                    <a:lnT w="12240">
                      <a:solidFill>
                        <a:srgbClr val="E2D3CE"/>
                      </a:solidFill>
                      <a:prstDash val="solid"/>
                    </a:lnT>
                    <a:lnB w="12240">
                      <a:solidFill>
                        <a:srgbClr val="E2D3C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52280" tIns="101520" rIns="152280" bIns="1015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420C1C"/>
                          </a:solidFill>
                          <a:effectLst/>
                          <a:uFillTx/>
                          <a:latin typeface="Figtree"/>
                          <a:ea typeface="Figtree"/>
                        </a:rPr>
                        <a:t>✗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52280" marR="152280" marT="101520" marB="101520">
                    <a:lnL w="12240">
                      <a:solidFill>
                        <a:srgbClr val="FFFCF7"/>
                      </a:solidFill>
                      <a:prstDash val="solid"/>
                    </a:lnL>
                    <a:lnR w="12240">
                      <a:solidFill>
                        <a:srgbClr val="FFFCF7"/>
                      </a:solidFill>
                      <a:prstDash val="solid"/>
                    </a:lnR>
                    <a:lnT w="12240">
                      <a:solidFill>
                        <a:srgbClr val="E2D3CE"/>
                      </a:solidFill>
                      <a:prstDash val="solid"/>
                    </a:lnT>
                    <a:lnB w="12240">
                      <a:solidFill>
                        <a:srgbClr val="E2D3C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52280" tIns="101520" rIns="152280" bIns="1015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420C1C"/>
                          </a:solidFill>
                          <a:effectLst/>
                          <a:uFillTx/>
                          <a:latin typeface="Figtree"/>
                          <a:ea typeface="Figtree"/>
                        </a:rPr>
                        <a:t>✓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52280" marR="152280" marT="101520" marB="101520">
                    <a:lnL w="12240">
                      <a:solidFill>
                        <a:srgbClr val="FFFCF7"/>
                      </a:solidFill>
                      <a:prstDash val="solid"/>
                    </a:lnL>
                    <a:lnR w="12240">
                      <a:solidFill>
                        <a:srgbClr val="FFFCF7"/>
                      </a:solidFill>
                      <a:prstDash val="solid"/>
                    </a:lnR>
                    <a:lnT w="12240">
                      <a:solidFill>
                        <a:srgbClr val="E2D3CE"/>
                      </a:solidFill>
                      <a:prstDash val="solid"/>
                    </a:lnT>
                    <a:lnB w="12240">
                      <a:solidFill>
                        <a:srgbClr val="E2D3C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52280" tIns="101520" rIns="152280" bIns="1015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1" u="none" strike="noStrike">
                          <a:solidFill>
                            <a:srgbClr val="420C1C"/>
                          </a:solidFill>
                          <a:effectLst/>
                          <a:uFillTx/>
                          <a:latin typeface="Figtree"/>
                          <a:ea typeface="Figtree"/>
                        </a:rPr>
                        <a:t>✓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52280" marR="152280" marT="101520" marB="101520">
                    <a:lnL w="12240">
                      <a:solidFill>
                        <a:srgbClr val="FFFCF7"/>
                      </a:solidFill>
                      <a:prstDash val="solid"/>
                    </a:lnL>
                    <a:lnR w="12240">
                      <a:solidFill>
                        <a:srgbClr val="FFFCF7"/>
                      </a:solidFill>
                      <a:prstDash val="solid"/>
                    </a:lnR>
                    <a:lnT w="12240">
                      <a:solidFill>
                        <a:srgbClr val="E2D3CE"/>
                      </a:solidFill>
                      <a:prstDash val="solid"/>
                    </a:lnT>
                    <a:lnB w="12240">
                      <a:solidFill>
                        <a:srgbClr val="E2D3CE"/>
                      </a:solidFill>
                      <a:prstDash val="solid"/>
                    </a:lnB>
                    <a:noFill/>
                  </a:tcPr>
                </a:tc>
              </a:tr>
              <a:tr h="886320">
                <a:tc>
                  <a:txBody>
                    <a:bodyPr lIns="152280" tIns="101520" rIns="152280" bIns="1015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1" u="none" strike="noStrike">
                          <a:solidFill>
                            <a:srgbClr val="420C1C"/>
                          </a:solidFill>
                          <a:effectLst/>
                          <a:uFillTx/>
                          <a:latin typeface="Figtree"/>
                          <a:ea typeface="Figtree"/>
                        </a:rPr>
                        <a:t>Buyer needs no account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52280" marR="152280" marT="101520" marB="101520">
                    <a:lnL w="12240">
                      <a:solidFill>
                        <a:srgbClr val="FFFCF7"/>
                      </a:solidFill>
                      <a:prstDash val="solid"/>
                    </a:lnL>
                    <a:lnR w="12240">
                      <a:solidFill>
                        <a:srgbClr val="FFFCF7"/>
                      </a:solidFill>
                      <a:prstDash val="solid"/>
                    </a:lnR>
                    <a:lnT w="12240">
                      <a:solidFill>
                        <a:srgbClr val="E2D3CE"/>
                      </a:solidFill>
                      <a:prstDash val="solid"/>
                    </a:lnT>
                    <a:lnB w="12240">
                      <a:solidFill>
                        <a:srgbClr val="E2D3C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52280" tIns="101520" rIns="152280" bIns="1015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420C1C"/>
                          </a:solidFill>
                          <a:effectLst/>
                          <a:uFillTx/>
                          <a:latin typeface="Figtree"/>
                          <a:ea typeface="Figtree"/>
                        </a:rPr>
                        <a:t>✓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52280" marR="152280" marT="101520" marB="101520">
                    <a:lnL w="12240">
                      <a:solidFill>
                        <a:srgbClr val="FFFCF7"/>
                      </a:solidFill>
                      <a:prstDash val="solid"/>
                    </a:lnL>
                    <a:lnR w="12240">
                      <a:solidFill>
                        <a:srgbClr val="FFFCF7"/>
                      </a:solidFill>
                      <a:prstDash val="solid"/>
                    </a:lnR>
                    <a:lnT w="12240">
                      <a:solidFill>
                        <a:srgbClr val="E2D3CE"/>
                      </a:solidFill>
                      <a:prstDash val="solid"/>
                    </a:lnT>
                    <a:lnB w="12240">
                      <a:solidFill>
                        <a:srgbClr val="E2D3C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52280" tIns="101520" rIns="152280" bIns="1015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420C1C"/>
                          </a:solidFill>
                          <a:effectLst/>
                          <a:uFillTx/>
                          <a:latin typeface="Figtree"/>
                          <a:ea typeface="Figtree"/>
                        </a:rPr>
                        <a:t>✓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52280" marR="152280" marT="101520" marB="101520">
                    <a:lnL w="12240">
                      <a:solidFill>
                        <a:srgbClr val="FFFCF7"/>
                      </a:solidFill>
                      <a:prstDash val="solid"/>
                    </a:lnL>
                    <a:lnR w="12240">
                      <a:solidFill>
                        <a:srgbClr val="FFFCF7"/>
                      </a:solidFill>
                      <a:prstDash val="solid"/>
                    </a:lnR>
                    <a:lnT w="12240">
                      <a:solidFill>
                        <a:srgbClr val="E2D3CE"/>
                      </a:solidFill>
                      <a:prstDash val="solid"/>
                    </a:lnT>
                    <a:lnB w="12240">
                      <a:solidFill>
                        <a:srgbClr val="E2D3C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52280" tIns="101520" rIns="152280" bIns="1015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420C1C"/>
                          </a:solidFill>
                          <a:effectLst/>
                          <a:uFillTx/>
                          <a:latin typeface="Figtree"/>
                          <a:ea typeface="Figtree"/>
                        </a:rPr>
                        <a:t>✗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52280" marR="152280" marT="101520" marB="101520">
                    <a:lnL w="12240">
                      <a:solidFill>
                        <a:srgbClr val="FFFCF7"/>
                      </a:solidFill>
                      <a:prstDash val="solid"/>
                    </a:lnL>
                    <a:lnR w="12240">
                      <a:solidFill>
                        <a:srgbClr val="FFFCF7"/>
                      </a:solidFill>
                      <a:prstDash val="solid"/>
                    </a:lnR>
                    <a:lnT w="12240">
                      <a:solidFill>
                        <a:srgbClr val="E2D3CE"/>
                      </a:solidFill>
                      <a:prstDash val="solid"/>
                    </a:lnT>
                    <a:lnB w="12240">
                      <a:solidFill>
                        <a:srgbClr val="E2D3C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52280" tIns="101520" rIns="152280" bIns="1015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1" u="none" strike="noStrike">
                          <a:solidFill>
                            <a:srgbClr val="420C1C"/>
                          </a:solidFill>
                          <a:effectLst/>
                          <a:uFillTx/>
                          <a:latin typeface="Figtree"/>
                          <a:ea typeface="Figtree"/>
                        </a:rPr>
                        <a:t>✓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52280" marR="152280" marT="101520" marB="101520">
                    <a:lnL w="12240">
                      <a:solidFill>
                        <a:srgbClr val="FFFCF7"/>
                      </a:solidFill>
                      <a:prstDash val="solid"/>
                    </a:lnL>
                    <a:lnR w="12240">
                      <a:solidFill>
                        <a:srgbClr val="FFFCF7"/>
                      </a:solidFill>
                      <a:prstDash val="solid"/>
                    </a:lnR>
                    <a:lnT w="12240">
                      <a:solidFill>
                        <a:srgbClr val="E2D3CE"/>
                      </a:solidFill>
                      <a:prstDash val="solid"/>
                    </a:lnT>
                    <a:lnB w="12240">
                      <a:solidFill>
                        <a:srgbClr val="E2D3CE"/>
                      </a:solidFill>
                      <a:prstDash val="solid"/>
                    </a:lnB>
                    <a:noFill/>
                  </a:tcPr>
                </a:tc>
              </a:tr>
              <a:tr h="650880">
                <a:tc>
                  <a:txBody>
                    <a:bodyPr lIns="152280" tIns="101520" rIns="152280" bIns="1015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1" u="none" strike="noStrike">
                          <a:solidFill>
                            <a:srgbClr val="420C1C"/>
                          </a:solidFill>
                          <a:effectLst/>
                          <a:uFillTx/>
                          <a:latin typeface="Figtree"/>
                          <a:ea typeface="Figtree"/>
                        </a:rPr>
                        <a:t>No wallet / gas jargon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52280" marR="152280" marT="101520" marB="101520">
                    <a:lnL w="12240">
                      <a:solidFill>
                        <a:srgbClr val="FFFCF7"/>
                      </a:solidFill>
                      <a:prstDash val="solid"/>
                    </a:lnL>
                    <a:lnR w="12240">
                      <a:solidFill>
                        <a:srgbClr val="FFFCF7"/>
                      </a:solidFill>
                      <a:prstDash val="solid"/>
                    </a:lnR>
                    <a:lnT w="12240">
                      <a:solidFill>
                        <a:srgbClr val="E2D3CE"/>
                      </a:solidFill>
                      <a:prstDash val="solid"/>
                    </a:lnT>
                    <a:lnB w="12240">
                      <a:solidFill>
                        <a:srgbClr val="E2D3C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52280" tIns="101520" rIns="152280" bIns="1015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420C1C"/>
                          </a:solidFill>
                          <a:effectLst/>
                          <a:uFillTx/>
                          <a:latin typeface="Figtree"/>
                          <a:ea typeface="Figtree"/>
                        </a:rPr>
                        <a:t>✓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52280" marR="152280" marT="101520" marB="101520">
                    <a:lnL w="12240">
                      <a:solidFill>
                        <a:srgbClr val="FFFCF7"/>
                      </a:solidFill>
                      <a:prstDash val="solid"/>
                    </a:lnL>
                    <a:lnR w="12240">
                      <a:solidFill>
                        <a:srgbClr val="FFFCF7"/>
                      </a:solidFill>
                      <a:prstDash val="solid"/>
                    </a:lnR>
                    <a:lnT w="12240">
                      <a:solidFill>
                        <a:srgbClr val="E2D3CE"/>
                      </a:solidFill>
                      <a:prstDash val="solid"/>
                    </a:lnT>
                    <a:lnB w="12240">
                      <a:solidFill>
                        <a:srgbClr val="E2D3C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52280" tIns="101520" rIns="152280" bIns="1015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420C1C"/>
                          </a:solidFill>
                          <a:effectLst/>
                          <a:uFillTx/>
                          <a:latin typeface="Figtree"/>
                          <a:ea typeface="Figtree"/>
                        </a:rPr>
                        <a:t>✓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52280" marR="152280" marT="101520" marB="101520">
                    <a:lnL w="12240">
                      <a:solidFill>
                        <a:srgbClr val="FFFCF7"/>
                      </a:solidFill>
                      <a:prstDash val="solid"/>
                    </a:lnL>
                    <a:lnR w="12240">
                      <a:solidFill>
                        <a:srgbClr val="FFFCF7"/>
                      </a:solidFill>
                      <a:prstDash val="solid"/>
                    </a:lnR>
                    <a:lnT w="12240">
                      <a:solidFill>
                        <a:srgbClr val="E2D3CE"/>
                      </a:solidFill>
                      <a:prstDash val="solid"/>
                    </a:lnT>
                    <a:lnB w="12240">
                      <a:solidFill>
                        <a:srgbClr val="E2D3C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52280" tIns="101520" rIns="152280" bIns="1015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420C1C"/>
                          </a:solidFill>
                          <a:effectLst/>
                          <a:uFillTx/>
                          <a:latin typeface="Figtree"/>
                          <a:ea typeface="Figtree"/>
                        </a:rPr>
                        <a:t>✗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52280" marR="152280" marT="101520" marB="101520">
                    <a:lnL w="12240">
                      <a:solidFill>
                        <a:srgbClr val="FFFCF7"/>
                      </a:solidFill>
                      <a:prstDash val="solid"/>
                    </a:lnL>
                    <a:lnR w="12240">
                      <a:solidFill>
                        <a:srgbClr val="FFFCF7"/>
                      </a:solidFill>
                      <a:prstDash val="solid"/>
                    </a:lnR>
                    <a:lnT w="12240">
                      <a:solidFill>
                        <a:srgbClr val="E2D3CE"/>
                      </a:solidFill>
                      <a:prstDash val="solid"/>
                    </a:lnT>
                    <a:lnB w="12240">
                      <a:solidFill>
                        <a:srgbClr val="E2D3C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52280" tIns="101520" rIns="152280" bIns="1015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1" u="none" strike="noStrike">
                          <a:solidFill>
                            <a:srgbClr val="420C1C"/>
                          </a:solidFill>
                          <a:effectLst/>
                          <a:uFillTx/>
                          <a:latin typeface="Figtree"/>
                          <a:ea typeface="Figtree"/>
                        </a:rPr>
                        <a:t>✓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52280" marR="152280" marT="101520" marB="101520">
                    <a:lnL w="12240">
                      <a:solidFill>
                        <a:srgbClr val="FFFCF7"/>
                      </a:solidFill>
                      <a:prstDash val="solid"/>
                    </a:lnL>
                    <a:lnR w="12240">
                      <a:solidFill>
                        <a:srgbClr val="FFFCF7"/>
                      </a:solidFill>
                      <a:prstDash val="solid"/>
                    </a:lnR>
                    <a:lnT w="12240">
                      <a:solidFill>
                        <a:srgbClr val="E2D3CE"/>
                      </a:solidFill>
                      <a:prstDash val="solid"/>
                    </a:lnT>
                    <a:lnB w="12240">
                      <a:solidFill>
                        <a:srgbClr val="E2D3CE"/>
                      </a:solidFill>
                      <a:prstDash val="solid"/>
                    </a:lnB>
                    <a:noFill/>
                  </a:tcPr>
                </a:tc>
              </a:tr>
              <a:tr h="650880">
                <a:tc>
                  <a:txBody>
                    <a:bodyPr lIns="152280" tIns="101520" rIns="152280" bIns="1015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1" u="none" strike="noStrike">
                          <a:solidFill>
                            <a:srgbClr val="420C1C"/>
                          </a:solidFill>
                          <a:effectLst/>
                          <a:uFillTx/>
                          <a:latin typeface="Figtree"/>
                          <a:ea typeface="Figtree"/>
                        </a:rPr>
                        <a:t>Zero-trust verification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52280" marR="152280" marT="101520" marB="101520">
                    <a:lnL w="12240">
                      <a:solidFill>
                        <a:srgbClr val="FFFCF7"/>
                      </a:solidFill>
                      <a:prstDash val="solid"/>
                    </a:lnL>
                    <a:lnR w="12240">
                      <a:solidFill>
                        <a:srgbClr val="FFFCF7"/>
                      </a:solidFill>
                      <a:prstDash val="solid"/>
                    </a:lnR>
                    <a:lnT w="12240">
                      <a:solidFill>
                        <a:srgbClr val="E2D3CE"/>
                      </a:solidFill>
                      <a:prstDash val="solid"/>
                    </a:lnT>
                    <a:lnB w="12240">
                      <a:solidFill>
                        <a:srgbClr val="E2D3C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52280" tIns="101520" rIns="152280" bIns="1015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420C1C"/>
                          </a:solidFill>
                          <a:effectLst/>
                          <a:uFillTx/>
                          <a:latin typeface="Figtree"/>
                          <a:ea typeface="Figtree"/>
                        </a:rPr>
                        <a:t>✗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52280" marR="152280" marT="101520" marB="101520">
                    <a:lnL w="12240">
                      <a:solidFill>
                        <a:srgbClr val="FFFCF7"/>
                      </a:solidFill>
                      <a:prstDash val="solid"/>
                    </a:lnL>
                    <a:lnR w="12240">
                      <a:solidFill>
                        <a:srgbClr val="FFFCF7"/>
                      </a:solidFill>
                      <a:prstDash val="solid"/>
                    </a:lnR>
                    <a:lnT w="12240">
                      <a:solidFill>
                        <a:srgbClr val="E2D3CE"/>
                      </a:solidFill>
                      <a:prstDash val="solid"/>
                    </a:lnT>
                    <a:lnB w="12240">
                      <a:solidFill>
                        <a:srgbClr val="E2D3C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52280" tIns="101520" rIns="152280" bIns="1015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420C1C"/>
                          </a:solidFill>
                          <a:effectLst/>
                          <a:uFillTx/>
                          <a:latin typeface="Figtree"/>
                          <a:ea typeface="Figtree"/>
                        </a:rPr>
                        <a:t>✗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52280" marR="152280" marT="101520" marB="101520">
                    <a:lnL w="12240">
                      <a:solidFill>
                        <a:srgbClr val="FFFCF7"/>
                      </a:solidFill>
                      <a:prstDash val="solid"/>
                    </a:lnL>
                    <a:lnR w="12240">
                      <a:solidFill>
                        <a:srgbClr val="FFFCF7"/>
                      </a:solidFill>
                      <a:prstDash val="solid"/>
                    </a:lnR>
                    <a:lnT w="12240">
                      <a:solidFill>
                        <a:srgbClr val="E2D3CE"/>
                      </a:solidFill>
                      <a:prstDash val="solid"/>
                    </a:lnT>
                    <a:lnB w="12240">
                      <a:solidFill>
                        <a:srgbClr val="E2D3C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52280" tIns="101520" rIns="152280" bIns="1015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420C1C"/>
                          </a:solidFill>
                          <a:effectLst/>
                          <a:uFillTx/>
                          <a:latin typeface="Figtree"/>
                          <a:ea typeface="Figtree"/>
                        </a:rPr>
                        <a:t>✓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52280" marR="152280" marT="101520" marB="101520">
                    <a:lnL w="12240">
                      <a:solidFill>
                        <a:srgbClr val="FFFCF7"/>
                      </a:solidFill>
                      <a:prstDash val="solid"/>
                    </a:lnL>
                    <a:lnR w="12240">
                      <a:solidFill>
                        <a:srgbClr val="FFFCF7"/>
                      </a:solidFill>
                      <a:prstDash val="solid"/>
                    </a:lnR>
                    <a:lnT w="12240">
                      <a:solidFill>
                        <a:srgbClr val="E2D3CE"/>
                      </a:solidFill>
                      <a:prstDash val="solid"/>
                    </a:lnT>
                    <a:lnB w="12240">
                      <a:solidFill>
                        <a:srgbClr val="E2D3C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52280" tIns="101520" rIns="152280" bIns="1015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1" u="none" strike="noStrike">
                          <a:solidFill>
                            <a:srgbClr val="420C1C"/>
                          </a:solidFill>
                          <a:effectLst/>
                          <a:uFillTx/>
                          <a:latin typeface="Figtree"/>
                          <a:ea typeface="Figtree"/>
                        </a:rPr>
                        <a:t>✓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52280" marR="152280" marT="101520" marB="101520">
                    <a:lnL w="12240">
                      <a:solidFill>
                        <a:srgbClr val="FFFCF7"/>
                      </a:solidFill>
                      <a:prstDash val="solid"/>
                    </a:lnL>
                    <a:lnR w="12240">
                      <a:solidFill>
                        <a:srgbClr val="FFFCF7"/>
                      </a:solidFill>
                      <a:prstDash val="solid"/>
                    </a:lnR>
                    <a:lnT w="12240">
                      <a:solidFill>
                        <a:srgbClr val="E2D3CE"/>
                      </a:solidFill>
                      <a:prstDash val="solid"/>
                    </a:lnT>
                    <a:lnB w="12240">
                      <a:solidFill>
                        <a:srgbClr val="E2D3CE"/>
                      </a:solidFill>
                      <a:prstDash val="solid"/>
                    </a:lnB>
                    <a:noFill/>
                  </a:tcPr>
                </a:tc>
              </a:tr>
              <a:tr h="879840">
                <a:tc>
                  <a:txBody>
                    <a:bodyPr lIns="152280" tIns="101520" rIns="152280" bIns="1015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1" u="none" strike="noStrike">
                          <a:solidFill>
                            <a:srgbClr val="420C1C"/>
                          </a:solidFill>
                          <a:effectLst/>
                          <a:uFillTx/>
                          <a:latin typeface="Figtree"/>
                          <a:ea typeface="Figtree"/>
                        </a:rPr>
                        <a:t>Pinpoints altered step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52280" marR="152280" marT="101520" marB="101520">
                    <a:lnL w="12240">
                      <a:solidFill>
                        <a:srgbClr val="FFFCF7"/>
                      </a:solidFill>
                      <a:prstDash val="solid"/>
                    </a:lnL>
                    <a:lnR w="12240">
                      <a:solidFill>
                        <a:srgbClr val="FFFCF7"/>
                      </a:solidFill>
                      <a:prstDash val="solid"/>
                    </a:lnR>
                    <a:lnT w="12240">
                      <a:solidFill>
                        <a:srgbClr val="E2D3CE"/>
                      </a:solidFill>
                      <a:prstDash val="solid"/>
                    </a:lnT>
                    <a:lnB w="12240">
                      <a:solidFill>
                        <a:srgbClr val="FFFCF7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52280" tIns="101520" rIns="152280" bIns="1015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420C1C"/>
                          </a:solidFill>
                          <a:effectLst/>
                          <a:uFillTx/>
                          <a:latin typeface="Figtree"/>
                          <a:ea typeface="Figtree"/>
                        </a:rPr>
                        <a:t>✗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52280" marR="152280" marT="101520" marB="101520">
                    <a:lnL w="12240">
                      <a:solidFill>
                        <a:srgbClr val="FFFCF7"/>
                      </a:solidFill>
                      <a:prstDash val="solid"/>
                    </a:lnL>
                    <a:lnR w="12240">
                      <a:solidFill>
                        <a:srgbClr val="FFFCF7"/>
                      </a:solidFill>
                      <a:prstDash val="solid"/>
                    </a:lnR>
                    <a:lnT w="12240">
                      <a:solidFill>
                        <a:srgbClr val="E2D3CE"/>
                      </a:solidFill>
                      <a:prstDash val="solid"/>
                    </a:lnT>
                    <a:lnB w="12240">
                      <a:solidFill>
                        <a:srgbClr val="FFFCF7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52280" tIns="101520" rIns="152280" bIns="1015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420C1C"/>
                          </a:solidFill>
                          <a:effectLst/>
                          <a:uFillTx/>
                          <a:latin typeface="Figtree"/>
                          <a:ea typeface="Figtree"/>
                        </a:rPr>
                        <a:t>✗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52280" marR="152280" marT="101520" marB="101520">
                    <a:lnL w="12240">
                      <a:solidFill>
                        <a:srgbClr val="FFFCF7"/>
                      </a:solidFill>
                      <a:prstDash val="solid"/>
                    </a:lnL>
                    <a:lnR w="12240">
                      <a:solidFill>
                        <a:srgbClr val="FFFCF7"/>
                      </a:solidFill>
                      <a:prstDash val="solid"/>
                    </a:lnR>
                    <a:lnT w="12240">
                      <a:solidFill>
                        <a:srgbClr val="E2D3CE"/>
                      </a:solidFill>
                      <a:prstDash val="solid"/>
                    </a:lnT>
                    <a:lnB w="12240">
                      <a:solidFill>
                        <a:srgbClr val="FFFCF7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52280" tIns="101520" rIns="152280" bIns="1015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420C1C"/>
                          </a:solidFill>
                          <a:effectLst/>
                          <a:uFillTx/>
                          <a:latin typeface="Figtree"/>
                          <a:ea typeface="Figtree"/>
                        </a:rPr>
                        <a:t>✗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52280" marR="152280" marT="101520" marB="101520">
                    <a:lnL w="12240">
                      <a:solidFill>
                        <a:srgbClr val="FFFCF7"/>
                      </a:solidFill>
                      <a:prstDash val="solid"/>
                    </a:lnL>
                    <a:lnR w="12240">
                      <a:solidFill>
                        <a:srgbClr val="FFFCF7"/>
                      </a:solidFill>
                      <a:prstDash val="solid"/>
                    </a:lnR>
                    <a:lnT w="12240">
                      <a:solidFill>
                        <a:srgbClr val="E2D3CE"/>
                      </a:solidFill>
                      <a:prstDash val="solid"/>
                    </a:lnT>
                    <a:lnB w="12240">
                      <a:solidFill>
                        <a:srgbClr val="FFFCF7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52280" tIns="101520" rIns="152280" bIns="1015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1" u="none" strike="noStrike">
                          <a:solidFill>
                            <a:srgbClr val="420C1C"/>
                          </a:solidFill>
                          <a:effectLst/>
                          <a:uFillTx/>
                          <a:latin typeface="Figtree"/>
                          <a:ea typeface="Figtree"/>
                        </a:rPr>
                        <a:t>✓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52280" marR="152280" marT="101520" marB="101520">
                    <a:lnL w="12240">
                      <a:solidFill>
                        <a:srgbClr val="FFFCF7"/>
                      </a:solidFill>
                      <a:prstDash val="solid"/>
                    </a:lnL>
                    <a:lnR w="12240">
                      <a:solidFill>
                        <a:srgbClr val="FFFCF7"/>
                      </a:solidFill>
                      <a:prstDash val="solid"/>
                    </a:lnR>
                    <a:lnT w="12240">
                      <a:solidFill>
                        <a:srgbClr val="E2D3CE"/>
                      </a:solidFill>
                      <a:prstDash val="solid"/>
                    </a:lnT>
                    <a:lnB w="12240">
                      <a:solidFill>
                        <a:srgbClr val="FFFCF7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0" name="Text 2"/>
          <p:cNvSpPr/>
          <p:nvPr/>
        </p:nvSpPr>
        <p:spPr>
          <a:xfrm>
            <a:off x="5987520" y="1669320"/>
            <a:ext cx="1135800" cy="55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83000"/>
              </a:lnSpc>
              <a:tabLst>
                <a:tab pos="0" algn="l"/>
              </a:tabLst>
            </a:pPr>
            <a:r>
              <a:rPr lang="en-US" sz="4400" b="0" u="none" spc="-88" strike="noStrike">
                <a:solidFill>
                  <a:srgbClr val="7A5C60"/>
                </a:solidFill>
                <a:effectLst/>
                <a:uFillTx/>
                <a:latin typeface="Cormorant Garamond"/>
                <a:ea typeface="Cormorant Garamond"/>
              </a:rPr>
              <a:t>01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3"/>
          <p:cNvSpPr/>
          <p:nvPr/>
        </p:nvSpPr>
        <p:spPr>
          <a:xfrm>
            <a:off x="6742440" y="1852920"/>
            <a:ext cx="463608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pc="-9" strike="noStrike">
                <a:solidFill>
                  <a:srgbClr val="420C1C"/>
                </a:solidFill>
                <a:effectLst/>
                <a:uFillTx/>
                <a:latin typeface="Figtree SemiBold"/>
                <a:ea typeface="Figtree SemiBold"/>
              </a:rPr>
              <a:t>Outg</a:t>
            </a:r>
            <a:r>
              <a:rPr lang="en-US" sz="1600" b="0" u="none" spc="-9" strike="noStrike">
                <a:solidFill>
                  <a:srgbClr val="420C1C"/>
                </a:solidFill>
                <a:effectLst/>
                <a:uFillTx/>
                <a:latin typeface="Figtree SemiBold"/>
                <a:ea typeface="Figtree SemiBold"/>
              </a:rPr>
              <a:t>oing-</a:t>
            </a:r>
            <a:r>
              <a:rPr lang="en-US" sz="1600" b="0" u="none" spc="-9" strike="noStrike">
                <a:solidFill>
                  <a:srgbClr val="420C1C"/>
                </a:solidFill>
                <a:effectLst/>
                <a:uFillTx/>
                <a:latin typeface="Figtree SemiBold"/>
                <a:ea typeface="Figtree SemiBold"/>
              </a:rPr>
              <a:t>cust</a:t>
            </a:r>
            <a:r>
              <a:rPr lang="en-US" sz="1600" b="0" u="none" spc="-9" strike="noStrike">
                <a:solidFill>
                  <a:srgbClr val="420C1C"/>
                </a:solidFill>
                <a:effectLst/>
                <a:uFillTx/>
                <a:latin typeface="Figtree SemiBold"/>
                <a:ea typeface="Figtree SemiBold"/>
              </a:rPr>
              <a:t>odia</a:t>
            </a:r>
            <a:r>
              <a:rPr lang="en-US" sz="1600" b="0" u="none" spc="-9" strike="noStrike">
                <a:solidFill>
                  <a:srgbClr val="420C1C"/>
                </a:solidFill>
                <a:effectLst/>
                <a:uFillTx/>
                <a:latin typeface="Figtree SemiBold"/>
                <a:ea typeface="Figtree SemiBold"/>
              </a:rPr>
              <a:t>n-</a:t>
            </a:r>
            <a:r>
              <a:rPr lang="en-US" sz="1600" b="0" u="none" spc="-9" strike="noStrike">
                <a:solidFill>
                  <a:srgbClr val="420C1C"/>
                </a:solidFill>
                <a:effectLst/>
                <a:uFillTx/>
                <a:latin typeface="Figtree SemiBold"/>
                <a:ea typeface="Figtree SemiBold"/>
              </a:rPr>
              <a:t>only </a:t>
            </a:r>
            <a:r>
              <a:rPr lang="en-US" sz="1600" b="0" u="none" spc="-9" strike="noStrike">
                <a:solidFill>
                  <a:srgbClr val="420C1C"/>
                </a:solidFill>
                <a:effectLst/>
                <a:uFillTx/>
                <a:latin typeface="Figtree SemiBold"/>
                <a:ea typeface="Figtree SemiBold"/>
              </a:rPr>
              <a:t>signi</a:t>
            </a:r>
            <a:r>
              <a:rPr lang="en-US" sz="1600" b="0" u="none" spc="-9" strike="noStrike">
                <a:solidFill>
                  <a:srgbClr val="420C1C"/>
                </a:solidFill>
                <a:effectLst/>
                <a:uFillTx/>
                <a:latin typeface="Figtree SemiBold"/>
                <a:ea typeface="Figtree SemiBold"/>
              </a:rPr>
              <a:t>ng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4"/>
          <p:cNvSpPr/>
          <p:nvPr/>
        </p:nvSpPr>
        <p:spPr>
          <a:xfrm>
            <a:off x="6742440" y="2270520"/>
            <a:ext cx="4636080" cy="45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13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Custo</a:t>
            </a:r>
            <a:r>
              <a:rPr lang="en-US" sz="13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dians </a:t>
            </a:r>
            <a:r>
              <a:rPr lang="en-US" sz="13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sign </a:t>
            </a:r>
            <a:r>
              <a:rPr lang="en-US" sz="13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upon </a:t>
            </a:r>
            <a:r>
              <a:rPr lang="en-US" sz="13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releasi</a:t>
            </a:r>
            <a:r>
              <a:rPr lang="en-US" sz="13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ng </a:t>
            </a:r>
            <a:r>
              <a:rPr lang="en-US" sz="13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goods</a:t>
            </a:r>
            <a:r>
              <a:rPr lang="en-US" sz="13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; the </a:t>
            </a:r>
            <a:r>
              <a:rPr lang="en-US" sz="13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termin</a:t>
            </a:r>
            <a:r>
              <a:rPr lang="en-US" sz="13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al </a:t>
            </a:r>
            <a:r>
              <a:rPr lang="en-US" sz="13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buyer </a:t>
            </a:r>
            <a:r>
              <a:rPr lang="en-US" sz="13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needs </a:t>
            </a:r>
            <a:r>
              <a:rPr lang="en-US" sz="13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no </a:t>
            </a:r>
            <a:r>
              <a:rPr lang="en-US" sz="13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accou</a:t>
            </a:r>
            <a:r>
              <a:rPr lang="en-US" sz="13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nt, </a:t>
            </a:r>
            <a:r>
              <a:rPr lang="en-US" sz="13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keys, </a:t>
            </a:r>
            <a:r>
              <a:rPr lang="en-US" sz="13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or </a:t>
            </a:r>
            <a:r>
              <a:rPr lang="en-US" sz="13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techni</a:t>
            </a:r>
            <a:r>
              <a:rPr lang="en-US" sz="13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cal </a:t>
            </a:r>
            <a:r>
              <a:rPr lang="en-US" sz="13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backg</a:t>
            </a:r>
            <a:r>
              <a:rPr lang="en-US" sz="13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round.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5"/>
          <p:cNvSpPr/>
          <p:nvPr/>
        </p:nvSpPr>
        <p:spPr>
          <a:xfrm>
            <a:off x="5987520" y="2946240"/>
            <a:ext cx="1135800" cy="55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83000"/>
              </a:lnSpc>
              <a:tabLst>
                <a:tab pos="0" algn="l"/>
              </a:tabLst>
            </a:pPr>
            <a:r>
              <a:rPr lang="en-US" sz="4400" b="0" u="none" spc="-88" strike="noStrike">
                <a:solidFill>
                  <a:srgbClr val="7A5C60"/>
                </a:solidFill>
                <a:effectLst/>
                <a:uFillTx/>
                <a:latin typeface="Cormorant Garamond"/>
                <a:ea typeface="Cormorant Garamond"/>
              </a:rPr>
              <a:t>0</a:t>
            </a:r>
            <a:r>
              <a:rPr lang="en-US" sz="4400" b="0" u="none" spc="-88" strike="noStrike">
                <a:solidFill>
                  <a:srgbClr val="7A5C60"/>
                </a:solidFill>
                <a:effectLst/>
                <a:uFillTx/>
                <a:latin typeface="Cormorant Garamond"/>
                <a:ea typeface="Cormorant Garamond"/>
              </a:rPr>
              <a:t>2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6"/>
          <p:cNvSpPr/>
          <p:nvPr/>
        </p:nvSpPr>
        <p:spPr>
          <a:xfrm>
            <a:off x="6742440" y="3129480"/>
            <a:ext cx="463608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pc="-9" strike="noStrike">
                <a:solidFill>
                  <a:srgbClr val="420C1C"/>
                </a:solidFill>
                <a:effectLst/>
                <a:uFillTx/>
                <a:latin typeface="Figtree SemiBold"/>
                <a:ea typeface="Figtree SemiBold"/>
              </a:rPr>
              <a:t>Tripl</a:t>
            </a:r>
            <a:r>
              <a:rPr lang="en-US" sz="1600" b="0" u="none" spc="-9" strike="noStrike">
                <a:solidFill>
                  <a:srgbClr val="420C1C"/>
                </a:solidFill>
                <a:effectLst/>
                <a:uFillTx/>
                <a:latin typeface="Figtree SemiBold"/>
                <a:ea typeface="Figtree SemiBold"/>
              </a:rPr>
              <a:t>e-</a:t>
            </a:r>
            <a:r>
              <a:rPr lang="en-US" sz="1600" b="0" u="none" spc="-9" strike="noStrike">
                <a:solidFill>
                  <a:srgbClr val="420C1C"/>
                </a:solidFill>
                <a:effectLst/>
                <a:uFillTx/>
                <a:latin typeface="Figtree SemiBold"/>
                <a:ea typeface="Figtree SemiBold"/>
              </a:rPr>
              <a:t>chec</a:t>
            </a:r>
            <a:r>
              <a:rPr lang="en-US" sz="1600" b="0" u="none" spc="-9" strike="noStrike">
                <a:solidFill>
                  <a:srgbClr val="420C1C"/>
                </a:solidFill>
                <a:effectLst/>
                <a:uFillTx/>
                <a:latin typeface="Figtree SemiBold"/>
                <a:ea typeface="Figtree SemiBold"/>
              </a:rPr>
              <a:t>k </a:t>
            </a:r>
            <a:r>
              <a:rPr lang="en-US" sz="1600" b="0" u="none" spc="-9" strike="noStrike">
                <a:solidFill>
                  <a:srgbClr val="420C1C"/>
                </a:solidFill>
                <a:effectLst/>
                <a:uFillTx/>
                <a:latin typeface="Figtree SemiBold"/>
                <a:ea typeface="Figtree SemiBold"/>
              </a:rPr>
              <a:t>pinp</a:t>
            </a:r>
            <a:r>
              <a:rPr lang="en-US" sz="1600" b="0" u="none" spc="-9" strike="noStrike">
                <a:solidFill>
                  <a:srgbClr val="420C1C"/>
                </a:solidFill>
                <a:effectLst/>
                <a:uFillTx/>
                <a:latin typeface="Figtree SemiBold"/>
                <a:ea typeface="Figtree SemiBold"/>
              </a:rPr>
              <a:t>oint </a:t>
            </a:r>
            <a:r>
              <a:rPr lang="en-US" sz="1600" b="0" u="none" spc="-9" strike="noStrike">
                <a:solidFill>
                  <a:srgbClr val="420C1C"/>
                </a:solidFill>
                <a:effectLst/>
                <a:uFillTx/>
                <a:latin typeface="Figtree SemiBold"/>
                <a:ea typeface="Figtree SemiBold"/>
              </a:rPr>
              <a:t>diag</a:t>
            </a:r>
            <a:r>
              <a:rPr lang="en-US" sz="1600" b="0" u="none" spc="-9" strike="noStrike">
                <a:solidFill>
                  <a:srgbClr val="420C1C"/>
                </a:solidFill>
                <a:effectLst/>
                <a:uFillTx/>
                <a:latin typeface="Figtree SemiBold"/>
                <a:ea typeface="Figtree SemiBold"/>
              </a:rPr>
              <a:t>nosti</a:t>
            </a:r>
            <a:r>
              <a:rPr lang="en-US" sz="1600" b="0" u="none" spc="-9" strike="noStrike">
                <a:solidFill>
                  <a:srgbClr val="420C1C"/>
                </a:solidFill>
                <a:effectLst/>
                <a:uFillTx/>
                <a:latin typeface="Figtree SemiBold"/>
                <a:ea typeface="Figtree SemiBold"/>
              </a:rPr>
              <a:t>cs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7"/>
          <p:cNvSpPr/>
          <p:nvPr/>
        </p:nvSpPr>
        <p:spPr>
          <a:xfrm>
            <a:off x="6742440" y="3547080"/>
            <a:ext cx="4636080" cy="45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13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Indep</a:t>
            </a:r>
            <a:r>
              <a:rPr lang="en-US" sz="13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enden</a:t>
            </a:r>
            <a:r>
              <a:rPr lang="en-US" sz="13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t </a:t>
            </a:r>
            <a:r>
              <a:rPr lang="en-US" sz="13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verific</a:t>
            </a:r>
            <a:r>
              <a:rPr lang="en-US" sz="13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ation </a:t>
            </a:r>
            <a:r>
              <a:rPr lang="en-US" sz="13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of </a:t>
            </a:r>
            <a:r>
              <a:rPr lang="en-US" sz="13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conte</a:t>
            </a:r>
            <a:r>
              <a:rPr lang="en-US" sz="13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nt </a:t>
            </a:r>
            <a:r>
              <a:rPr lang="en-US" sz="13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hash, </a:t>
            </a:r>
            <a:r>
              <a:rPr lang="en-US" sz="13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back-</a:t>
            </a:r>
            <a:r>
              <a:rPr lang="en-US" sz="13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linkag</a:t>
            </a:r>
            <a:r>
              <a:rPr lang="en-US" sz="13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e, and </a:t>
            </a:r>
            <a:r>
              <a:rPr lang="en-US" sz="13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signat</a:t>
            </a:r>
            <a:r>
              <a:rPr lang="en-US" sz="13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ure </a:t>
            </a:r>
            <a:r>
              <a:rPr lang="en-US" sz="13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isolate</a:t>
            </a:r>
            <a:r>
              <a:rPr lang="en-US" sz="13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s the </a:t>
            </a:r>
            <a:r>
              <a:rPr lang="en-US" sz="13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exact </a:t>
            </a:r>
            <a:r>
              <a:rPr lang="en-US" sz="13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compr</a:t>
            </a:r>
            <a:r>
              <a:rPr lang="en-US" sz="13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omise</a:t>
            </a:r>
            <a:r>
              <a:rPr lang="en-US" sz="13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d </a:t>
            </a:r>
            <a:r>
              <a:rPr lang="en-US" sz="13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step.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8"/>
          <p:cNvSpPr/>
          <p:nvPr/>
        </p:nvSpPr>
        <p:spPr>
          <a:xfrm>
            <a:off x="5987520" y="4222800"/>
            <a:ext cx="1135800" cy="55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83000"/>
              </a:lnSpc>
              <a:tabLst>
                <a:tab pos="0" algn="l"/>
              </a:tabLst>
            </a:pPr>
            <a:r>
              <a:rPr lang="en-US" sz="4400" b="0" u="none" spc="-88" strike="noStrike">
                <a:solidFill>
                  <a:srgbClr val="7A5C60"/>
                </a:solidFill>
                <a:effectLst/>
                <a:uFillTx/>
                <a:latin typeface="Cormorant Garamond"/>
                <a:ea typeface="Cormorant Garamond"/>
              </a:rPr>
              <a:t>03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9"/>
          <p:cNvSpPr/>
          <p:nvPr/>
        </p:nvSpPr>
        <p:spPr>
          <a:xfrm>
            <a:off x="6742440" y="4406400"/>
            <a:ext cx="463608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pc="-9" strike="noStrike">
                <a:solidFill>
                  <a:srgbClr val="420C1C"/>
                </a:solidFill>
                <a:effectLst/>
                <a:uFillTx/>
                <a:latin typeface="Figtree SemiBold"/>
                <a:ea typeface="Figtree SemiBold"/>
              </a:rPr>
              <a:t>Domain-separated Merkle checkpoints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10"/>
          <p:cNvSpPr/>
          <p:nvPr/>
        </p:nvSpPr>
        <p:spPr>
          <a:xfrm>
            <a:off x="6742440" y="4824000"/>
            <a:ext cx="4636080" cy="45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13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Prefixing leaves with 0x00 and internal nodes with 0x01 prevents second-preimage collision vulnerabilities.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11"/>
          <p:cNvSpPr/>
          <p:nvPr/>
        </p:nvSpPr>
        <p:spPr>
          <a:xfrm>
            <a:off x="5987520" y="5499720"/>
            <a:ext cx="1135800" cy="55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83000"/>
              </a:lnSpc>
              <a:tabLst>
                <a:tab pos="0" algn="l"/>
              </a:tabLst>
            </a:pPr>
            <a:r>
              <a:rPr lang="en-US" sz="4400" b="0" u="none" spc="-88" strike="noStrike">
                <a:solidFill>
                  <a:srgbClr val="7A5C60"/>
                </a:solidFill>
                <a:effectLst/>
                <a:uFillTx/>
                <a:latin typeface="Cormorant Garamond"/>
                <a:ea typeface="Cormorant Garamond"/>
              </a:rPr>
              <a:t>04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12"/>
          <p:cNvSpPr/>
          <p:nvPr/>
        </p:nvSpPr>
        <p:spPr>
          <a:xfrm>
            <a:off x="6742440" y="5682960"/>
            <a:ext cx="463608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pc="-9" strike="noStrike">
                <a:solidFill>
                  <a:srgbClr val="420C1C"/>
                </a:solidFill>
                <a:effectLst/>
                <a:uFillTx/>
                <a:latin typeface="Figtree SemiBold"/>
                <a:ea typeface="Figtree SemiBold"/>
              </a:rPr>
              <a:t>Public API &amp; standalone verifier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13"/>
          <p:cNvSpPr/>
          <p:nvPr/>
        </p:nvSpPr>
        <p:spPr>
          <a:xfrm>
            <a:off x="6742440" y="6100560"/>
            <a:ext cx="4636080" cy="45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13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REST endpoint and standalone Python CLI allow external validation without relying on the web application.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Shape 14"/>
          <p:cNvSpPr/>
          <p:nvPr/>
        </p:nvSpPr>
        <p:spPr>
          <a:xfrm>
            <a:off x="5987520" y="3011040"/>
            <a:ext cx="5391000" cy="12240"/>
          </a:xfrm>
          <a:prstGeom prst="rect">
            <a:avLst/>
          </a:prstGeom>
          <a:solidFill>
            <a:srgbClr val="E2D3C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2400" rIns="90000" bIns="-324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3" name="Shape 15"/>
          <p:cNvSpPr/>
          <p:nvPr/>
        </p:nvSpPr>
        <p:spPr>
          <a:xfrm>
            <a:off x="5987520" y="4287960"/>
            <a:ext cx="5391000" cy="12240"/>
          </a:xfrm>
          <a:prstGeom prst="rect">
            <a:avLst/>
          </a:prstGeom>
          <a:solidFill>
            <a:srgbClr val="E2D3C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2400" rIns="90000" bIns="-324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4" name="Shape 16"/>
          <p:cNvSpPr/>
          <p:nvPr/>
        </p:nvSpPr>
        <p:spPr>
          <a:xfrm>
            <a:off x="5987520" y="5564520"/>
            <a:ext cx="5391000" cy="12240"/>
          </a:xfrm>
          <a:prstGeom prst="rect">
            <a:avLst/>
          </a:prstGeom>
          <a:solidFill>
            <a:srgbClr val="E2D3C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2400" rIns="90000" bIns="-324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 0"/>
          <p:cNvSpPr/>
          <p:nvPr/>
        </p:nvSpPr>
        <p:spPr>
          <a:xfrm>
            <a:off x="812880" y="817200"/>
            <a:ext cx="1117548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8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7A5C60"/>
                </a:solidFill>
                <a:effectLst/>
                <a:uFillTx/>
                <a:latin typeface="Figtree Medium"/>
                <a:ea typeface="Figtree Medium"/>
              </a:rPr>
              <a:t>SYSTEM IMPLEMENTATION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1"/>
          <p:cNvSpPr/>
          <p:nvPr/>
        </p:nvSpPr>
        <p:spPr>
          <a:xfrm>
            <a:off x="812880" y="1155600"/>
            <a:ext cx="9143280" cy="39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87000"/>
              </a:lnSpc>
              <a:tabLst>
                <a:tab pos="0" algn="l"/>
              </a:tabLst>
            </a:pPr>
            <a:r>
              <a:rPr lang="en-US" sz="2950" b="0" u="none" spc="-45" strike="noStrike">
                <a:solidFill>
                  <a:srgbClr val="420C1C"/>
                </a:solidFill>
                <a:effectLst/>
                <a:uFillTx/>
                <a:latin typeface="Cormorant Garamond SemiBold"/>
                <a:ea typeface="Cormorant Garamond SemiBold"/>
              </a:rPr>
              <a:t>Three layers and a six-step verification method</a:t>
            </a:r>
            <a:endParaRPr lang="en-US" sz="2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2"/>
          <p:cNvSpPr/>
          <p:nvPr/>
        </p:nvSpPr>
        <p:spPr>
          <a:xfrm>
            <a:off x="812880" y="1938240"/>
            <a:ext cx="472716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pc="-9" strike="noStrike">
                <a:solidFill>
                  <a:srgbClr val="420C1C"/>
                </a:solidFill>
                <a:effectLst/>
                <a:uFillTx/>
                <a:latin typeface="Figtree SemiBold"/>
                <a:ea typeface="Figtree SemiBold"/>
              </a:rPr>
              <a:t>Architecture &amp; Storage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3"/>
          <p:cNvSpPr/>
          <p:nvPr/>
        </p:nvSpPr>
        <p:spPr>
          <a:xfrm>
            <a:off x="812880" y="2383200"/>
            <a:ext cx="4727160" cy="178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 lnSpcReduction="9999"/>
          </a:bodyPr>
          <a:p>
            <a:pPr defTabSz="914400">
              <a:lnSpc>
                <a:spcPct val="116000"/>
              </a:lnSpc>
              <a:spcAft>
                <a:spcPts val="1250"/>
              </a:spcAft>
              <a:tabLst>
                <a:tab pos="0" algn="l"/>
              </a:tabLst>
            </a:pPr>
            <a:r>
              <a:rPr lang="en-US" sz="1400" b="1" u="none" strike="noStrike">
                <a:solidFill>
                  <a:srgbClr val="420C1C"/>
                </a:solidFill>
                <a:effectLst/>
                <a:uFillTx/>
                <a:latin typeface="Figtree Bold"/>
                <a:ea typeface="Figtree Bold"/>
              </a:rPr>
              <a:t>Frontend:</a:t>
            </a:r>
            <a:r>
              <a:rPr lang="en-US" sz="14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 React 19 + Vite SPA, 7 modular views with QR decoding.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6000"/>
              </a:lnSpc>
              <a:spcAft>
                <a:spcPts val="1250"/>
              </a:spcAft>
              <a:tabLst>
                <a:tab pos="0" algn="l"/>
              </a:tabLst>
            </a:pPr>
            <a:r>
              <a:rPr lang="en-US" sz="1400" b="1" u="none" strike="noStrike">
                <a:solidFill>
                  <a:srgbClr val="420C1C"/>
                </a:solidFill>
                <a:effectLst/>
                <a:uFillTx/>
                <a:latin typeface="Figtree Bold"/>
                <a:ea typeface="Figtree Bold"/>
              </a:rPr>
              <a:t>Backend:</a:t>
            </a:r>
            <a:r>
              <a:rPr lang="en-US" sz="14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 FastAPI REST engine, PyJWT auth, canonical crypto pipeline.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6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420C1C"/>
                </a:solidFill>
                <a:effectLst/>
                <a:uFillTx/>
                <a:latin typeface="Figtree Bold"/>
                <a:ea typeface="Figtree Bold"/>
              </a:rPr>
              <a:t>Database:</a:t>
            </a:r>
            <a:r>
              <a:rPr lang="en-US" sz="14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 SQLite with strict foreign keys across 4 core tables: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4"/>
          <p:cNvSpPr/>
          <p:nvPr/>
        </p:nvSpPr>
        <p:spPr>
          <a:xfrm>
            <a:off x="812880" y="4324680"/>
            <a:ext cx="4727160" cy="141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marL="345600" indent="-345600" defTabSz="914400">
              <a:lnSpc>
                <a:spcPct val="116000"/>
              </a:lnSpc>
              <a:buClr>
                <a:srgbClr val="420C1C"/>
              </a:buClr>
              <a:buFont typeface="Symbol" charset="2"/>
              <a:buChar char=""/>
            </a:pPr>
            <a:r>
              <a:rPr lang="en-US" sz="1700" b="0" u="none" strike="noStrike">
                <a:solidFill>
                  <a:srgbClr val="420C1C"/>
                </a:solidFill>
                <a:effectLst/>
                <a:highlight>
                  <a:srgbClr val="F3EAE3"/>
                </a:highlight>
                <a:uFillTx/>
                <a:latin typeface="Baloo 2"/>
                <a:ea typeface="Consolas"/>
              </a:rPr>
              <a:t>u</a:t>
            </a:r>
            <a:r>
              <a:rPr lang="en-US" sz="1700" b="0" u="none" strike="noStrike">
                <a:solidFill>
                  <a:srgbClr val="420C1C"/>
                </a:solidFill>
                <a:effectLst/>
                <a:highlight>
                  <a:srgbClr val="F3EAE3"/>
                </a:highlight>
                <a:uFillTx/>
                <a:latin typeface="Baloo 2"/>
                <a:ea typeface="Consolas"/>
              </a:rPr>
              <a:t>s</a:t>
            </a:r>
            <a:r>
              <a:rPr lang="en-US" sz="1700" b="0" u="none" strike="noStrike">
                <a:solidFill>
                  <a:srgbClr val="420C1C"/>
                </a:solidFill>
                <a:effectLst/>
                <a:highlight>
                  <a:srgbClr val="F3EAE3"/>
                </a:highlight>
                <a:uFillTx/>
                <a:latin typeface="Baloo 2"/>
                <a:ea typeface="Consolas"/>
              </a:rPr>
              <a:t>e</a:t>
            </a:r>
            <a:r>
              <a:rPr lang="en-US" sz="1700" b="0" u="none" strike="noStrike">
                <a:solidFill>
                  <a:srgbClr val="420C1C"/>
                </a:solidFill>
                <a:effectLst/>
                <a:highlight>
                  <a:srgbClr val="F3EAE3"/>
                </a:highlight>
                <a:uFillTx/>
                <a:latin typeface="Baloo 2"/>
                <a:ea typeface="Consolas"/>
              </a:rPr>
              <a:t>rs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Baloo 2"/>
                <a:ea typeface="Figtree"/>
              </a:rPr>
              <a:t> 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Baloo 2"/>
                <a:ea typeface="Figtree"/>
              </a:rPr>
              <a:t>(E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Baloo 2"/>
                <a:ea typeface="Figtree"/>
              </a:rPr>
              <a:t>d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Baloo 2"/>
                <a:ea typeface="Figtree"/>
              </a:rPr>
              <a:t>2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Baloo 2"/>
                <a:ea typeface="Figtree"/>
              </a:rPr>
              <a:t>5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Baloo 2"/>
                <a:ea typeface="Figtree"/>
              </a:rPr>
              <a:t>5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Baloo 2"/>
                <a:ea typeface="Figtree"/>
              </a:rPr>
              <a:t>1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Baloo 2"/>
                <a:ea typeface="Figtree"/>
              </a:rPr>
              <a:t>9 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Baloo 2"/>
                <a:ea typeface="Figtree"/>
              </a:rPr>
              <a:t>k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Baloo 2"/>
                <a:ea typeface="Figtree"/>
              </a:rPr>
              <a:t>e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Baloo 2"/>
                <a:ea typeface="Figtree"/>
              </a:rPr>
              <a:t>y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Baloo 2"/>
                <a:ea typeface="Figtree"/>
              </a:rPr>
              <a:t>p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Baloo 2"/>
                <a:ea typeface="Figtree"/>
              </a:rPr>
              <a:t>ai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Baloo 2"/>
                <a:ea typeface="Figtree"/>
              </a:rPr>
              <a:t>rs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Baloo 2"/>
                <a:ea typeface="Figtree"/>
              </a:rPr>
              <a:t>, 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Baloo 2"/>
                <a:ea typeface="Figtree"/>
              </a:rPr>
              <a:t>r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Baloo 2"/>
                <a:ea typeface="Figtree"/>
              </a:rPr>
              <a:t>ol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Baloo 2"/>
                <a:ea typeface="Figtree"/>
              </a:rPr>
              <a:t>e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Baloo 2"/>
                <a:ea typeface="Figtree"/>
              </a:rPr>
              <a:t>s)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Baloo 2"/>
            </a:endParaRPr>
          </a:p>
          <a:p>
            <a:pPr marL="345600" indent="-345600" defTabSz="914400">
              <a:lnSpc>
                <a:spcPct val="116000"/>
              </a:lnSpc>
              <a:buClr>
                <a:srgbClr val="420C1C"/>
              </a:buClr>
              <a:buFont typeface="Symbol" charset="2"/>
              <a:buChar char=""/>
            </a:pPr>
            <a:r>
              <a:rPr lang="en-US" sz="1700" b="0" u="none" strike="noStrike">
                <a:solidFill>
                  <a:srgbClr val="420C1C"/>
                </a:solidFill>
                <a:effectLst/>
                <a:highlight>
                  <a:srgbClr val="F3EAE3"/>
                </a:highlight>
                <a:uFillTx/>
                <a:latin typeface="Baloo 2"/>
                <a:ea typeface="Consolas"/>
              </a:rPr>
              <a:t>pi</a:t>
            </a:r>
            <a:r>
              <a:rPr lang="en-US" sz="1700" b="0" u="none" strike="noStrike">
                <a:solidFill>
                  <a:srgbClr val="420C1C"/>
                </a:solidFill>
                <a:effectLst/>
                <a:highlight>
                  <a:srgbClr val="F3EAE3"/>
                </a:highlight>
                <a:uFillTx/>
                <a:latin typeface="Baloo 2"/>
                <a:ea typeface="Consolas"/>
              </a:rPr>
              <a:t>e</a:t>
            </a:r>
            <a:r>
              <a:rPr lang="en-US" sz="1700" b="0" u="none" strike="noStrike">
                <a:solidFill>
                  <a:srgbClr val="420C1C"/>
                </a:solidFill>
                <a:effectLst/>
                <a:highlight>
                  <a:srgbClr val="F3EAE3"/>
                </a:highlight>
                <a:uFillTx/>
                <a:latin typeface="Baloo 2"/>
                <a:ea typeface="Consolas"/>
              </a:rPr>
              <a:t>c</a:t>
            </a:r>
            <a:r>
              <a:rPr lang="en-US" sz="1700" b="0" u="none" strike="noStrike">
                <a:solidFill>
                  <a:srgbClr val="420C1C"/>
                </a:solidFill>
                <a:effectLst/>
                <a:highlight>
                  <a:srgbClr val="F3EAE3"/>
                </a:highlight>
                <a:uFillTx/>
                <a:latin typeface="Baloo 2"/>
                <a:ea typeface="Consolas"/>
              </a:rPr>
              <a:t>e</a:t>
            </a:r>
            <a:r>
              <a:rPr lang="en-US" sz="1700" b="0" u="none" strike="noStrike">
                <a:solidFill>
                  <a:srgbClr val="420C1C"/>
                </a:solidFill>
                <a:effectLst/>
                <a:highlight>
                  <a:srgbClr val="F3EAE3"/>
                </a:highlight>
                <a:uFillTx/>
                <a:latin typeface="Baloo 2"/>
                <a:ea typeface="Consolas"/>
              </a:rPr>
              <a:t>s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Baloo 2"/>
                <a:ea typeface="Figtree"/>
              </a:rPr>
              <a:t> 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Baloo 2"/>
                <a:ea typeface="Figtree"/>
              </a:rPr>
              <a:t>(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Baloo 2"/>
                <a:ea typeface="Figtree"/>
              </a:rPr>
              <a:t>m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Baloo 2"/>
                <a:ea typeface="Figtree"/>
              </a:rPr>
              <a:t>e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Baloo 2"/>
                <a:ea typeface="Figtree"/>
              </a:rPr>
              <a:t>ta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Baloo 2"/>
                <a:ea typeface="Figtree"/>
              </a:rPr>
              <a:t>d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Baloo 2"/>
                <a:ea typeface="Figtree"/>
              </a:rPr>
              <a:t>at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Baloo 2"/>
                <a:ea typeface="Figtree"/>
              </a:rPr>
              <a:t>a, 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Baloo 2"/>
                <a:ea typeface="Figtree"/>
              </a:rPr>
              <a:t>8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Baloo 2"/>
                <a:ea typeface="Figtree"/>
              </a:rPr>
              <a:t>-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Baloo 2"/>
                <a:ea typeface="Figtree"/>
              </a:rPr>
              <a:t>c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Baloo 2"/>
                <a:ea typeface="Figtree"/>
              </a:rPr>
              <a:t>h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Baloo 2"/>
                <a:ea typeface="Figtree"/>
              </a:rPr>
              <a:t>ar 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Baloo 2"/>
                <a:ea typeface="Figtree"/>
              </a:rPr>
              <a:t>c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Baloo 2"/>
                <a:ea typeface="Figtree"/>
              </a:rPr>
              <a:t>o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Baloo 2"/>
                <a:ea typeface="Figtree"/>
              </a:rPr>
              <a:t>d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Baloo 2"/>
                <a:ea typeface="Figtree"/>
              </a:rPr>
              <a:t>e)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Baloo 2"/>
            </a:endParaRPr>
          </a:p>
          <a:p>
            <a:pPr marL="345600" indent="-345600" defTabSz="914400">
              <a:lnSpc>
                <a:spcPct val="116000"/>
              </a:lnSpc>
              <a:buClr>
                <a:srgbClr val="420C1C"/>
              </a:buClr>
              <a:buFont typeface="Symbol" charset="2"/>
              <a:buChar char=""/>
            </a:pPr>
            <a:r>
              <a:rPr lang="en-US" sz="1700" b="0" u="none" strike="noStrike">
                <a:solidFill>
                  <a:srgbClr val="420C1C"/>
                </a:solidFill>
                <a:effectLst/>
                <a:highlight>
                  <a:srgbClr val="F3EAE3"/>
                </a:highlight>
                <a:uFillTx/>
                <a:latin typeface="Baloo 2"/>
                <a:ea typeface="Consolas"/>
              </a:rPr>
              <a:t>c</a:t>
            </a:r>
            <a:r>
              <a:rPr lang="en-US" sz="1700" b="0" u="none" strike="noStrike">
                <a:solidFill>
                  <a:srgbClr val="420C1C"/>
                </a:solidFill>
                <a:effectLst/>
                <a:highlight>
                  <a:srgbClr val="F3EAE3"/>
                </a:highlight>
                <a:uFillTx/>
                <a:latin typeface="Baloo 2"/>
                <a:ea typeface="Consolas"/>
              </a:rPr>
              <a:t>u</a:t>
            </a:r>
            <a:r>
              <a:rPr lang="en-US" sz="1700" b="0" u="none" strike="noStrike">
                <a:solidFill>
                  <a:srgbClr val="420C1C"/>
                </a:solidFill>
                <a:effectLst/>
                <a:highlight>
                  <a:srgbClr val="F3EAE3"/>
                </a:highlight>
                <a:uFillTx/>
                <a:latin typeface="Baloo 2"/>
                <a:ea typeface="Consolas"/>
              </a:rPr>
              <a:t>st</a:t>
            </a:r>
            <a:r>
              <a:rPr lang="en-US" sz="1700" b="0" u="none" strike="noStrike">
                <a:solidFill>
                  <a:srgbClr val="420C1C"/>
                </a:solidFill>
                <a:effectLst/>
                <a:highlight>
                  <a:srgbClr val="F3EAE3"/>
                </a:highlight>
                <a:uFillTx/>
                <a:latin typeface="Baloo 2"/>
                <a:ea typeface="Consolas"/>
              </a:rPr>
              <a:t>o</a:t>
            </a:r>
            <a:r>
              <a:rPr lang="en-US" sz="1700" b="0" u="none" strike="noStrike">
                <a:solidFill>
                  <a:srgbClr val="420C1C"/>
                </a:solidFill>
                <a:effectLst/>
                <a:highlight>
                  <a:srgbClr val="F3EAE3"/>
                </a:highlight>
                <a:uFillTx/>
                <a:latin typeface="Baloo 2"/>
                <a:ea typeface="Consolas"/>
              </a:rPr>
              <a:t>d</a:t>
            </a:r>
            <a:r>
              <a:rPr lang="en-US" sz="1700" b="0" u="none" strike="noStrike">
                <a:solidFill>
                  <a:srgbClr val="420C1C"/>
                </a:solidFill>
                <a:effectLst/>
                <a:highlight>
                  <a:srgbClr val="F3EAE3"/>
                </a:highlight>
                <a:uFillTx/>
                <a:latin typeface="Baloo 2"/>
                <a:ea typeface="Consolas"/>
              </a:rPr>
              <a:t>y</a:t>
            </a:r>
            <a:r>
              <a:rPr lang="en-US" sz="1700" b="0" u="none" strike="noStrike">
                <a:solidFill>
                  <a:srgbClr val="420C1C"/>
                </a:solidFill>
                <a:effectLst/>
                <a:highlight>
                  <a:srgbClr val="F3EAE3"/>
                </a:highlight>
                <a:uFillTx/>
                <a:latin typeface="Baloo 2"/>
                <a:ea typeface="Consolas"/>
              </a:rPr>
              <a:t>_r</a:t>
            </a:r>
            <a:r>
              <a:rPr lang="en-US" sz="1700" b="0" u="none" strike="noStrike">
                <a:solidFill>
                  <a:srgbClr val="420C1C"/>
                </a:solidFill>
                <a:effectLst/>
                <a:highlight>
                  <a:srgbClr val="F3EAE3"/>
                </a:highlight>
                <a:uFillTx/>
                <a:latin typeface="Baloo 2"/>
                <a:ea typeface="Consolas"/>
              </a:rPr>
              <a:t>e</a:t>
            </a:r>
            <a:r>
              <a:rPr lang="en-US" sz="1700" b="0" u="none" strike="noStrike">
                <a:solidFill>
                  <a:srgbClr val="420C1C"/>
                </a:solidFill>
                <a:effectLst/>
                <a:highlight>
                  <a:srgbClr val="F3EAE3"/>
                </a:highlight>
                <a:uFillTx/>
                <a:latin typeface="Baloo 2"/>
                <a:ea typeface="Consolas"/>
              </a:rPr>
              <a:t>c</a:t>
            </a:r>
            <a:r>
              <a:rPr lang="en-US" sz="1700" b="0" u="none" strike="noStrike">
                <a:solidFill>
                  <a:srgbClr val="420C1C"/>
                </a:solidFill>
                <a:effectLst/>
                <a:highlight>
                  <a:srgbClr val="F3EAE3"/>
                </a:highlight>
                <a:uFillTx/>
                <a:latin typeface="Baloo 2"/>
                <a:ea typeface="Consolas"/>
              </a:rPr>
              <a:t>o</a:t>
            </a:r>
            <a:r>
              <a:rPr lang="en-US" sz="1700" b="0" u="none" strike="noStrike">
                <a:solidFill>
                  <a:srgbClr val="420C1C"/>
                </a:solidFill>
                <a:effectLst/>
                <a:highlight>
                  <a:srgbClr val="F3EAE3"/>
                </a:highlight>
                <a:uFillTx/>
                <a:latin typeface="Baloo 2"/>
                <a:ea typeface="Consolas"/>
              </a:rPr>
              <a:t>r</a:t>
            </a:r>
            <a:r>
              <a:rPr lang="en-US" sz="1700" b="0" u="none" strike="noStrike">
                <a:solidFill>
                  <a:srgbClr val="420C1C"/>
                </a:solidFill>
                <a:effectLst/>
                <a:highlight>
                  <a:srgbClr val="F3EAE3"/>
                </a:highlight>
                <a:uFillTx/>
                <a:latin typeface="Baloo 2"/>
                <a:ea typeface="Consolas"/>
              </a:rPr>
              <a:t>d</a:t>
            </a:r>
            <a:r>
              <a:rPr lang="en-US" sz="1700" b="0" u="none" strike="noStrike">
                <a:solidFill>
                  <a:srgbClr val="420C1C"/>
                </a:solidFill>
                <a:effectLst/>
                <a:highlight>
                  <a:srgbClr val="F3EAE3"/>
                </a:highlight>
                <a:uFillTx/>
                <a:latin typeface="Baloo 2"/>
                <a:ea typeface="Consolas"/>
              </a:rPr>
              <a:t>s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Baloo 2"/>
                <a:ea typeface="Figtree"/>
              </a:rPr>
              <a:t> 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Baloo 2"/>
                <a:ea typeface="Figtree"/>
              </a:rPr>
              <a:t>(h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Baloo 2"/>
                <a:ea typeface="Figtree"/>
              </a:rPr>
              <a:t>a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Baloo 2"/>
                <a:ea typeface="Figtree"/>
              </a:rPr>
              <a:t>s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Baloo 2"/>
                <a:ea typeface="Figtree"/>
              </a:rPr>
              <a:t>h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Baloo 2"/>
                <a:ea typeface="Figtree"/>
              </a:rPr>
              <a:t>e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Baloo 2"/>
                <a:ea typeface="Figtree"/>
              </a:rPr>
              <a:t>s, 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Baloo 2"/>
                <a:ea typeface="Figtree"/>
              </a:rPr>
              <a:t>si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Baloo 2"/>
                <a:ea typeface="Figtree"/>
              </a:rPr>
              <a:t>g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Baloo 2"/>
                <a:ea typeface="Figtree"/>
              </a:rPr>
              <a:t>s)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Baloo 2"/>
            </a:endParaRPr>
          </a:p>
          <a:p>
            <a:pPr marL="345600" indent="-345600" defTabSz="914400">
              <a:lnSpc>
                <a:spcPct val="116000"/>
              </a:lnSpc>
              <a:buClr>
                <a:srgbClr val="420C1C"/>
              </a:buClr>
              <a:buFont typeface="Symbol" charset="2"/>
              <a:buChar char=""/>
            </a:pPr>
            <a:r>
              <a:rPr lang="en-US" sz="1700" b="0" u="none" strike="noStrike">
                <a:solidFill>
                  <a:srgbClr val="420C1C"/>
                </a:solidFill>
                <a:effectLst/>
                <a:highlight>
                  <a:srgbClr val="F3EAE3"/>
                </a:highlight>
                <a:uFillTx/>
                <a:latin typeface="Baloo 2"/>
                <a:ea typeface="Consolas"/>
              </a:rPr>
              <a:t>m</a:t>
            </a:r>
            <a:r>
              <a:rPr lang="en-US" sz="1700" b="0" u="none" strike="noStrike">
                <a:solidFill>
                  <a:srgbClr val="420C1C"/>
                </a:solidFill>
                <a:effectLst/>
                <a:highlight>
                  <a:srgbClr val="F3EAE3"/>
                </a:highlight>
                <a:uFillTx/>
                <a:latin typeface="Baloo 2"/>
                <a:ea typeface="Consolas"/>
              </a:rPr>
              <a:t>e</a:t>
            </a:r>
            <a:r>
              <a:rPr lang="en-US" sz="1700" b="0" u="none" strike="noStrike">
                <a:solidFill>
                  <a:srgbClr val="420C1C"/>
                </a:solidFill>
                <a:effectLst/>
                <a:highlight>
                  <a:srgbClr val="F3EAE3"/>
                </a:highlight>
                <a:uFillTx/>
                <a:latin typeface="Baloo 2"/>
                <a:ea typeface="Consolas"/>
              </a:rPr>
              <a:t>rk</a:t>
            </a:r>
            <a:r>
              <a:rPr lang="en-US" sz="1700" b="0" u="none" strike="noStrike">
                <a:solidFill>
                  <a:srgbClr val="420C1C"/>
                </a:solidFill>
                <a:effectLst/>
                <a:highlight>
                  <a:srgbClr val="F3EAE3"/>
                </a:highlight>
                <a:uFillTx/>
                <a:latin typeface="Baloo 2"/>
                <a:ea typeface="Consolas"/>
              </a:rPr>
              <a:t>le</a:t>
            </a:r>
            <a:r>
              <a:rPr lang="en-US" sz="1700" b="0" u="none" strike="noStrike">
                <a:solidFill>
                  <a:srgbClr val="420C1C"/>
                </a:solidFill>
                <a:effectLst/>
                <a:highlight>
                  <a:srgbClr val="F3EAE3"/>
                </a:highlight>
                <a:uFillTx/>
                <a:latin typeface="Baloo 2"/>
                <a:ea typeface="Consolas"/>
              </a:rPr>
              <a:t>_</a:t>
            </a:r>
            <a:r>
              <a:rPr lang="en-US" sz="1700" b="0" u="none" strike="noStrike">
                <a:solidFill>
                  <a:srgbClr val="420C1C"/>
                </a:solidFill>
                <a:effectLst/>
                <a:highlight>
                  <a:srgbClr val="F3EAE3"/>
                </a:highlight>
                <a:uFillTx/>
                <a:latin typeface="Baloo 2"/>
                <a:ea typeface="Consolas"/>
              </a:rPr>
              <a:t>b</a:t>
            </a:r>
            <a:r>
              <a:rPr lang="en-US" sz="1700" b="0" u="none" strike="noStrike">
                <a:solidFill>
                  <a:srgbClr val="420C1C"/>
                </a:solidFill>
                <a:effectLst/>
                <a:highlight>
                  <a:srgbClr val="F3EAE3"/>
                </a:highlight>
                <a:uFillTx/>
                <a:latin typeface="Baloo 2"/>
                <a:ea typeface="Consolas"/>
              </a:rPr>
              <a:t>at</a:t>
            </a:r>
            <a:r>
              <a:rPr lang="en-US" sz="1700" b="0" u="none" strike="noStrike">
                <a:solidFill>
                  <a:srgbClr val="420C1C"/>
                </a:solidFill>
                <a:effectLst/>
                <a:highlight>
                  <a:srgbClr val="F3EAE3"/>
                </a:highlight>
                <a:uFillTx/>
                <a:latin typeface="Baloo 2"/>
                <a:ea typeface="Consolas"/>
              </a:rPr>
              <a:t>c</a:t>
            </a:r>
            <a:r>
              <a:rPr lang="en-US" sz="1700" b="0" u="none" strike="noStrike">
                <a:solidFill>
                  <a:srgbClr val="420C1C"/>
                </a:solidFill>
                <a:effectLst/>
                <a:highlight>
                  <a:srgbClr val="F3EAE3"/>
                </a:highlight>
                <a:uFillTx/>
                <a:latin typeface="Baloo 2"/>
                <a:ea typeface="Consolas"/>
              </a:rPr>
              <a:t>h</a:t>
            </a:r>
            <a:r>
              <a:rPr lang="en-US" sz="1700" b="0" u="none" strike="noStrike">
                <a:solidFill>
                  <a:srgbClr val="420C1C"/>
                </a:solidFill>
                <a:effectLst/>
                <a:highlight>
                  <a:srgbClr val="F3EAE3"/>
                </a:highlight>
                <a:uFillTx/>
                <a:latin typeface="Baloo 2"/>
                <a:ea typeface="Consolas"/>
              </a:rPr>
              <a:t>e</a:t>
            </a:r>
            <a:r>
              <a:rPr lang="en-US" sz="1700" b="0" u="none" strike="noStrike">
                <a:solidFill>
                  <a:srgbClr val="420C1C"/>
                </a:solidFill>
                <a:effectLst/>
                <a:highlight>
                  <a:srgbClr val="F3EAE3"/>
                </a:highlight>
                <a:uFillTx/>
                <a:latin typeface="Baloo 2"/>
                <a:ea typeface="Consolas"/>
              </a:rPr>
              <a:t>s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Baloo 2"/>
                <a:ea typeface="Figtree"/>
              </a:rPr>
              <a:t> 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Baloo 2"/>
                <a:ea typeface="Figtree"/>
              </a:rPr>
              <a:t>(r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Baloo 2"/>
                <a:ea typeface="Figtree"/>
              </a:rPr>
              <a:t>o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Baloo 2"/>
                <a:ea typeface="Figtree"/>
              </a:rPr>
              <a:t>o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Baloo 2"/>
                <a:ea typeface="Figtree"/>
              </a:rPr>
              <a:t>t 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Baloo 2"/>
                <a:ea typeface="Figtree"/>
              </a:rPr>
              <a:t>h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Baloo 2"/>
                <a:ea typeface="Figtree"/>
              </a:rPr>
              <a:t>a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Baloo 2"/>
                <a:ea typeface="Figtree"/>
              </a:rPr>
              <a:t>s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Baloo 2"/>
                <a:ea typeface="Figtree"/>
              </a:rPr>
              <a:t>h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Baloo 2"/>
                <a:ea typeface="Figtree"/>
              </a:rPr>
              <a:t>e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Baloo 2"/>
                <a:ea typeface="Figtree"/>
              </a:rPr>
              <a:t>s, 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Baloo 2"/>
                <a:ea typeface="Figtree"/>
              </a:rPr>
              <a:t>st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Baloo 2"/>
                <a:ea typeface="Figtree"/>
              </a:rPr>
              <a:t>at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Baloo 2"/>
                <a:ea typeface="Figtree"/>
              </a:rPr>
              <a:t>e)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Baloo 2"/>
            </a:endParaRPr>
          </a:p>
        </p:txBody>
      </p:sp>
      <p:sp>
        <p:nvSpPr>
          <p:cNvPr id="60" name="Text 5"/>
          <p:cNvSpPr/>
          <p:nvPr/>
        </p:nvSpPr>
        <p:spPr>
          <a:xfrm>
            <a:off x="5946840" y="1938240"/>
            <a:ext cx="543168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pc="-9" strike="noStrike">
                <a:solidFill>
                  <a:srgbClr val="420C1C"/>
                </a:solidFill>
                <a:effectLst/>
                <a:uFillTx/>
                <a:latin typeface="Figtree SemiBold"/>
                <a:ea typeface="Figtree SemiBold"/>
              </a:rPr>
              <a:t>6-Step Verification Protocol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6"/>
          <p:cNvSpPr/>
          <p:nvPr/>
        </p:nvSpPr>
        <p:spPr>
          <a:xfrm>
            <a:off x="5946840" y="2276280"/>
            <a:ext cx="1135800" cy="55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83000"/>
              </a:lnSpc>
              <a:tabLst>
                <a:tab pos="0" algn="l"/>
              </a:tabLst>
            </a:pPr>
            <a:r>
              <a:rPr lang="en-US" sz="4400" b="0" u="none" spc="-88" strike="noStrike">
                <a:solidFill>
                  <a:srgbClr val="7A5C60"/>
                </a:solidFill>
                <a:effectLst/>
                <a:uFillTx/>
                <a:latin typeface="Cormorant Garamond"/>
                <a:ea typeface="Cormorant Garamond"/>
              </a:rPr>
              <a:t>01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7"/>
          <p:cNvSpPr/>
          <p:nvPr/>
        </p:nvSpPr>
        <p:spPr>
          <a:xfrm>
            <a:off x="6701760" y="2433960"/>
            <a:ext cx="4676760" cy="48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 lnSpcReduction="9999"/>
          </a:bodyPr>
          <a:p>
            <a:pPr defTabSz="914400">
              <a:lnSpc>
                <a:spcPct val="116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420C1C"/>
                </a:solidFill>
                <a:effectLst/>
                <a:uFillTx/>
                <a:latin typeface="Figtree Bold"/>
                <a:ea typeface="Figtree Bold"/>
              </a:rPr>
              <a:t>Canonical JSON:</a:t>
            </a:r>
            <a:r>
              <a:rPr lang="en-US" sz="14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 Sort keys, strip whitespace across 8 schema fields.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8"/>
          <p:cNvSpPr/>
          <p:nvPr/>
        </p:nvSpPr>
        <p:spPr>
          <a:xfrm>
            <a:off x="5946840" y="2864880"/>
            <a:ext cx="1135800" cy="55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83000"/>
              </a:lnSpc>
              <a:tabLst>
                <a:tab pos="0" algn="l"/>
              </a:tabLst>
            </a:pPr>
            <a:r>
              <a:rPr lang="en-US" sz="4400" b="0" u="none" spc="-88" strike="noStrike">
                <a:solidFill>
                  <a:srgbClr val="7A5C60"/>
                </a:solidFill>
                <a:effectLst/>
                <a:uFillTx/>
                <a:latin typeface="Cormorant Garamond"/>
                <a:ea typeface="Cormorant Garamond"/>
              </a:rPr>
              <a:t>02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9"/>
          <p:cNvSpPr/>
          <p:nvPr/>
        </p:nvSpPr>
        <p:spPr>
          <a:xfrm>
            <a:off x="6701760" y="3022560"/>
            <a:ext cx="4676760" cy="48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 lnSpcReduction="9999"/>
          </a:bodyPr>
          <a:p>
            <a:pPr defTabSz="914400">
              <a:lnSpc>
                <a:spcPct val="116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420C1C"/>
                </a:solidFill>
                <a:effectLst/>
                <a:uFillTx/>
                <a:latin typeface="Figtree Bold"/>
                <a:ea typeface="Figtree Bold"/>
              </a:rPr>
              <a:t>Record Hashing:</a:t>
            </a:r>
            <a:r>
              <a:rPr lang="en-US" sz="14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 Generate record hash via SHA-256 of canonical bytes.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10"/>
          <p:cNvSpPr/>
          <p:nvPr/>
        </p:nvSpPr>
        <p:spPr>
          <a:xfrm>
            <a:off x="5946840" y="3453480"/>
            <a:ext cx="1135800" cy="55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83000"/>
              </a:lnSpc>
              <a:tabLst>
                <a:tab pos="0" algn="l"/>
              </a:tabLst>
            </a:pPr>
            <a:r>
              <a:rPr lang="en-US" sz="4400" b="0" u="none" spc="-88" strike="noStrike">
                <a:solidFill>
                  <a:srgbClr val="7A5C60"/>
                </a:solidFill>
                <a:effectLst/>
                <a:uFillTx/>
                <a:latin typeface="Cormorant Garamond"/>
                <a:ea typeface="Cormorant Garamond"/>
              </a:rPr>
              <a:t>03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11"/>
          <p:cNvSpPr/>
          <p:nvPr/>
        </p:nvSpPr>
        <p:spPr>
          <a:xfrm>
            <a:off x="6701760" y="3611160"/>
            <a:ext cx="4676760" cy="48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 lnSpcReduction="9999"/>
          </a:bodyPr>
          <a:p>
            <a:pPr defTabSz="914400">
              <a:lnSpc>
                <a:spcPct val="116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420C1C"/>
                </a:solidFill>
                <a:effectLst/>
                <a:uFillTx/>
                <a:latin typeface="Figtree Bold"/>
                <a:ea typeface="Figtree Bold"/>
              </a:rPr>
              <a:t>Chain Linkage:</a:t>
            </a:r>
            <a:r>
              <a:rPr lang="en-US" sz="14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 Record 0 links to SHA-256("GENESIS"); record n to n-1.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12"/>
          <p:cNvSpPr/>
          <p:nvPr/>
        </p:nvSpPr>
        <p:spPr>
          <a:xfrm>
            <a:off x="5946840" y="4042080"/>
            <a:ext cx="1135800" cy="55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83000"/>
              </a:lnSpc>
              <a:tabLst>
                <a:tab pos="0" algn="l"/>
              </a:tabLst>
            </a:pPr>
            <a:r>
              <a:rPr lang="en-US" sz="4400" b="0" u="none" spc="-88" strike="noStrike">
                <a:solidFill>
                  <a:srgbClr val="7A5C60"/>
                </a:solidFill>
                <a:effectLst/>
                <a:uFillTx/>
                <a:latin typeface="Cormorant Garamond"/>
                <a:ea typeface="Cormorant Garamond"/>
              </a:rPr>
              <a:t>04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13"/>
          <p:cNvSpPr/>
          <p:nvPr/>
        </p:nvSpPr>
        <p:spPr>
          <a:xfrm>
            <a:off x="6701760" y="4199760"/>
            <a:ext cx="4676760" cy="48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 lnSpcReduction="9999"/>
          </a:bodyPr>
          <a:p>
            <a:pPr defTabSz="914400">
              <a:lnSpc>
                <a:spcPct val="116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420C1C"/>
                </a:solidFill>
                <a:effectLst/>
                <a:uFillTx/>
                <a:latin typeface="Figtree Bold"/>
                <a:ea typeface="Figtree Bold"/>
              </a:rPr>
              <a:t>Ed25519 Signature:</a:t>
            </a:r>
            <a:r>
              <a:rPr lang="en-US" sz="14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 Sign digest using outgoing custodian private key.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14"/>
          <p:cNvSpPr/>
          <p:nvPr/>
        </p:nvSpPr>
        <p:spPr>
          <a:xfrm>
            <a:off x="5946840" y="4630680"/>
            <a:ext cx="1135800" cy="55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83000"/>
              </a:lnSpc>
              <a:tabLst>
                <a:tab pos="0" algn="l"/>
              </a:tabLst>
            </a:pPr>
            <a:r>
              <a:rPr lang="en-US" sz="4400" b="0" u="none" spc="-88" strike="noStrike">
                <a:solidFill>
                  <a:srgbClr val="7A5C60"/>
                </a:solidFill>
                <a:effectLst/>
                <a:uFillTx/>
                <a:latin typeface="Cormorant Garamond"/>
                <a:ea typeface="Cormorant Garamond"/>
              </a:rPr>
              <a:t>05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15"/>
          <p:cNvSpPr/>
          <p:nvPr/>
        </p:nvSpPr>
        <p:spPr>
          <a:xfrm>
            <a:off x="6701760" y="4788360"/>
            <a:ext cx="4676760" cy="48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 lnSpcReduction="9999"/>
          </a:bodyPr>
          <a:p>
            <a:pPr defTabSz="914400">
              <a:lnSpc>
                <a:spcPct val="116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420C1C"/>
                </a:solidFill>
                <a:effectLst/>
                <a:uFillTx/>
                <a:latin typeface="Figtree Bold"/>
                <a:ea typeface="Figtree Bold"/>
              </a:rPr>
              <a:t>Integrity Audit:</a:t>
            </a:r>
            <a:r>
              <a:rPr lang="en-US" sz="14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 Verify content hash match, chain link, and custodian sig.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16"/>
          <p:cNvSpPr/>
          <p:nvPr/>
        </p:nvSpPr>
        <p:spPr>
          <a:xfrm>
            <a:off x="5946840" y="5219280"/>
            <a:ext cx="1135800" cy="55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83000"/>
              </a:lnSpc>
              <a:tabLst>
                <a:tab pos="0" algn="l"/>
              </a:tabLst>
            </a:pPr>
            <a:r>
              <a:rPr lang="en-US" sz="4400" b="0" u="none" spc="-88" strike="noStrike">
                <a:solidFill>
                  <a:srgbClr val="7A5C60"/>
                </a:solidFill>
                <a:effectLst/>
                <a:uFillTx/>
                <a:latin typeface="Cormorant Garamond"/>
                <a:ea typeface="Cormorant Garamond"/>
              </a:rPr>
              <a:t>06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17"/>
          <p:cNvSpPr/>
          <p:nvPr/>
        </p:nvSpPr>
        <p:spPr>
          <a:xfrm>
            <a:off x="6701760" y="5376960"/>
            <a:ext cx="4676760" cy="48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 lnSpcReduction="9999"/>
          </a:bodyPr>
          <a:p>
            <a:pPr defTabSz="914400">
              <a:lnSpc>
                <a:spcPct val="116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420C1C"/>
                </a:solidFill>
                <a:effectLst/>
                <a:uFillTx/>
                <a:latin typeface="Figtree Bold"/>
                <a:ea typeface="Figtree Bold"/>
              </a:rPr>
              <a:t>Merkle Tree Sealing:</a:t>
            </a:r>
            <a:r>
              <a:rPr lang="en-US" sz="14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 Hash leaves SHA-256(0x00‖h), nodes SHA-256(0x01‖L‖R).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Shape 18"/>
          <p:cNvSpPr/>
          <p:nvPr/>
        </p:nvSpPr>
        <p:spPr>
          <a:xfrm>
            <a:off x="812880" y="6339960"/>
            <a:ext cx="10565640" cy="31320"/>
          </a:xfrm>
          <a:prstGeom prst="roundRect">
            <a:avLst>
              <a:gd name="adj" fmla="val 49998"/>
            </a:avLst>
          </a:prstGeom>
          <a:solidFill>
            <a:srgbClr val="E2D3C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22320" rIns="90000" bIns="-2232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4" name="Text 19"/>
          <p:cNvSpPr/>
          <p:nvPr/>
        </p:nvSpPr>
        <p:spPr>
          <a:xfrm>
            <a:off x="812880" y="6673320"/>
            <a:ext cx="11175480" cy="19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8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7A5C60"/>
                </a:solidFill>
                <a:effectLst/>
                <a:uFillTx/>
                <a:latin typeface="Figtree"/>
                <a:ea typeface="Figtree"/>
              </a:rPr>
              <a:t>End-to-end custody workflow: Register piece → Genesis record &amp; QR → Maker-to-Gallery transfer → Buyer sale → Checkpoint published → Public scan.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Shape 20"/>
          <p:cNvSpPr/>
          <p:nvPr/>
        </p:nvSpPr>
        <p:spPr>
          <a:xfrm>
            <a:off x="5737320" y="1803960"/>
            <a:ext cx="12240" cy="4237560"/>
          </a:xfrm>
          <a:prstGeom prst="rect">
            <a:avLst/>
          </a:prstGeom>
          <a:solidFill>
            <a:srgbClr val="E2D3C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6" name="Shape 21"/>
          <p:cNvSpPr/>
          <p:nvPr/>
        </p:nvSpPr>
        <p:spPr>
          <a:xfrm>
            <a:off x="5946840" y="2965320"/>
            <a:ext cx="5431680" cy="12240"/>
          </a:xfrm>
          <a:prstGeom prst="rect">
            <a:avLst/>
          </a:prstGeom>
          <a:solidFill>
            <a:srgbClr val="E2D3C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2400" rIns="90000" bIns="-324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7" name="Shape 22"/>
          <p:cNvSpPr/>
          <p:nvPr/>
        </p:nvSpPr>
        <p:spPr>
          <a:xfrm>
            <a:off x="5946840" y="3553920"/>
            <a:ext cx="5431680" cy="12240"/>
          </a:xfrm>
          <a:prstGeom prst="rect">
            <a:avLst/>
          </a:prstGeom>
          <a:solidFill>
            <a:srgbClr val="E2D3C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2400" rIns="90000" bIns="-324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8" name="Shape 23"/>
          <p:cNvSpPr/>
          <p:nvPr/>
        </p:nvSpPr>
        <p:spPr>
          <a:xfrm>
            <a:off x="5946840" y="4142520"/>
            <a:ext cx="5431680" cy="12240"/>
          </a:xfrm>
          <a:prstGeom prst="rect">
            <a:avLst/>
          </a:prstGeom>
          <a:solidFill>
            <a:srgbClr val="E2D3C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2400" rIns="90000" bIns="-324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9" name="Shape 24"/>
          <p:cNvSpPr/>
          <p:nvPr/>
        </p:nvSpPr>
        <p:spPr>
          <a:xfrm>
            <a:off x="5946840" y="4731120"/>
            <a:ext cx="5431680" cy="12240"/>
          </a:xfrm>
          <a:prstGeom prst="rect">
            <a:avLst/>
          </a:prstGeom>
          <a:solidFill>
            <a:srgbClr val="E2D3C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2400" rIns="90000" bIns="-324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0" name="Shape 25"/>
          <p:cNvSpPr/>
          <p:nvPr/>
        </p:nvSpPr>
        <p:spPr>
          <a:xfrm>
            <a:off x="5946840" y="5319720"/>
            <a:ext cx="5431680" cy="12240"/>
          </a:xfrm>
          <a:prstGeom prst="rect">
            <a:avLst/>
          </a:prstGeom>
          <a:solidFill>
            <a:srgbClr val="E2D3C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2400" rIns="90000" bIns="-324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Text 0"/>
          <p:cNvSpPr/>
          <p:nvPr/>
        </p:nvSpPr>
        <p:spPr>
          <a:xfrm>
            <a:off x="812880" y="582480"/>
            <a:ext cx="9143280" cy="79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 lnSpcReduction="9999"/>
          </a:bodyPr>
          <a:p>
            <a:pPr defTabSz="914400">
              <a:lnSpc>
                <a:spcPct val="88000"/>
              </a:lnSpc>
              <a:tabLst>
                <a:tab pos="0" algn="l"/>
              </a:tabLst>
            </a:pPr>
            <a:r>
              <a:rPr lang="en-US" sz="3000" b="0" u="none" spc="-45" strike="noStrike">
                <a:solidFill>
                  <a:srgbClr val="420C1C"/>
                </a:solidFill>
                <a:effectLst/>
                <a:uFillTx/>
                <a:latin typeface="Cormorant Garamond SemiBold"/>
                <a:ea typeface="Cormorant Garamond SemiBold"/>
              </a:rPr>
              <a:t>Python backend, React frontend, 13 endpoints, deployed on Render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82" name="Table 0"/>
          <p:cNvGraphicFramePr/>
          <p:nvPr/>
        </p:nvGraphicFramePr>
        <p:xfrm>
          <a:off x="812880" y="1641600"/>
          <a:ext cx="5130360" cy="3760920"/>
        </p:xfrm>
        <a:graphic>
          <a:graphicData uri="http://schemas.openxmlformats.org/drawingml/2006/table">
            <a:tbl>
              <a:tblPr/>
              <a:tblGrid>
                <a:gridCol w="1384920"/>
                <a:gridCol w="3745080"/>
              </a:tblGrid>
              <a:tr h="511560">
                <a:tc>
                  <a:txBody>
                    <a:bodyPr lIns="152280" tIns="101520" rIns="152280" bIns="1015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700" b="0" u="none" strike="noStrike">
                          <a:solidFill>
                            <a:srgbClr val="420C1C"/>
                          </a:solidFill>
                          <a:effectLst/>
                          <a:uFillTx/>
                          <a:latin typeface="Figtree"/>
                          <a:ea typeface="Figtree"/>
                        </a:rPr>
                        <a:t>Area</a:t>
                      </a:r>
                      <a:endParaRPr lang="en-US" sz="17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52280" marR="152280" marT="101520" marB="101520">
                    <a:lnL w="12240">
                      <a:solidFill>
                        <a:srgbClr val="FFFCF7"/>
                      </a:solidFill>
                      <a:prstDash val="solid"/>
                    </a:lnL>
                    <a:lnR w="12240">
                      <a:solidFill>
                        <a:srgbClr val="FFFCF7"/>
                      </a:solidFill>
                      <a:prstDash val="solid"/>
                    </a:lnR>
                    <a:lnT w="12240">
                      <a:solidFill>
                        <a:srgbClr val="FFFCF7"/>
                      </a:solidFill>
                      <a:prstDash val="solid"/>
                    </a:lnT>
                    <a:lnB w="12240">
                      <a:solidFill>
                        <a:srgbClr val="E2D3C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52280" tIns="101520" rIns="152280" bIns="1015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700" b="0" u="none" strike="noStrike">
                          <a:solidFill>
                            <a:srgbClr val="420C1C"/>
                          </a:solidFill>
                          <a:effectLst/>
                          <a:uFillTx/>
                          <a:latin typeface="Figtree"/>
                          <a:ea typeface="Figtree"/>
                        </a:rPr>
                        <a:t>Details</a:t>
                      </a:r>
                      <a:endParaRPr lang="en-US" sz="17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52280" marR="152280" marT="101520" marB="101520">
                    <a:lnL w="12240">
                      <a:solidFill>
                        <a:srgbClr val="FFFCF7"/>
                      </a:solidFill>
                      <a:prstDash val="solid"/>
                    </a:lnL>
                    <a:lnR w="12240">
                      <a:solidFill>
                        <a:srgbClr val="FFFCF7"/>
                      </a:solidFill>
                      <a:prstDash val="solid"/>
                    </a:lnR>
                    <a:lnT w="12240">
                      <a:solidFill>
                        <a:srgbClr val="FFFCF7"/>
                      </a:solidFill>
                      <a:prstDash val="solid"/>
                    </a:lnT>
                    <a:lnB w="12240">
                      <a:solidFill>
                        <a:srgbClr val="E2D3CE"/>
                      </a:solidFill>
                      <a:prstDash val="solid"/>
                    </a:lnB>
                    <a:noFill/>
                  </a:tcPr>
                </a:tc>
              </a:tr>
              <a:tr h="813960">
                <a:tc>
                  <a:txBody>
                    <a:bodyPr lIns="152280" tIns="101520" rIns="152280" bIns="1015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700" b="1" u="none" strike="noStrike">
                          <a:solidFill>
                            <a:srgbClr val="420C1C"/>
                          </a:solidFill>
                          <a:effectLst/>
                          <a:uFillTx/>
                          <a:latin typeface="Figtree"/>
                          <a:ea typeface="Figtree"/>
                        </a:rPr>
                        <a:t>Backend</a:t>
                      </a:r>
                      <a:endParaRPr lang="en-US" sz="17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52280" marR="152280" marT="101520" marB="101520">
                    <a:lnL w="12240">
                      <a:solidFill>
                        <a:srgbClr val="FFFCF7"/>
                      </a:solidFill>
                      <a:prstDash val="solid"/>
                    </a:lnL>
                    <a:lnR w="12240">
                      <a:solidFill>
                        <a:srgbClr val="FFFCF7"/>
                      </a:solidFill>
                      <a:prstDash val="solid"/>
                    </a:lnR>
                    <a:lnT w="12240">
                      <a:solidFill>
                        <a:srgbClr val="E2D3CE"/>
                      </a:solidFill>
                      <a:prstDash val="solid"/>
                    </a:lnT>
                    <a:lnB w="12240">
                      <a:solidFill>
                        <a:srgbClr val="E2D3C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52280" tIns="101520" rIns="152280" bIns="1015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700" b="0" u="none" strike="noStrike">
                          <a:solidFill>
                            <a:srgbClr val="420C1C"/>
                          </a:solidFill>
                          <a:effectLst/>
                          <a:uFillTx/>
                          <a:latin typeface="Figtree"/>
                          <a:ea typeface="Figtree"/>
                        </a:rPr>
                        <a:t>Python 3.10+, FastAPI, Uvicorn, Pydantic</a:t>
                      </a:r>
                      <a:endParaRPr lang="en-US" sz="17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52280" marR="152280" marT="101520" marB="101520">
                    <a:lnL w="12240">
                      <a:solidFill>
                        <a:srgbClr val="FFFCF7"/>
                      </a:solidFill>
                      <a:prstDash val="solid"/>
                    </a:lnL>
                    <a:lnR w="12240">
                      <a:solidFill>
                        <a:srgbClr val="FFFCF7"/>
                      </a:solidFill>
                      <a:prstDash val="solid"/>
                    </a:lnR>
                    <a:lnT w="12240">
                      <a:solidFill>
                        <a:srgbClr val="E2D3CE"/>
                      </a:solidFill>
                      <a:prstDash val="solid"/>
                    </a:lnT>
                    <a:lnB w="12240">
                      <a:solidFill>
                        <a:srgbClr val="E2D3CE"/>
                      </a:solidFill>
                      <a:prstDash val="solid"/>
                    </a:lnB>
                    <a:noFill/>
                  </a:tcPr>
                </a:tc>
              </a:tr>
              <a:tr h="813960">
                <a:tc>
                  <a:txBody>
                    <a:bodyPr lIns="152280" tIns="101520" rIns="152280" bIns="1015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700" b="1" u="none" strike="noStrike">
                          <a:solidFill>
                            <a:srgbClr val="420C1C"/>
                          </a:solidFill>
                          <a:effectLst/>
                          <a:uFillTx/>
                          <a:latin typeface="Figtree"/>
                          <a:ea typeface="Figtree"/>
                        </a:rPr>
                        <a:t>Crypto</a:t>
                      </a:r>
                      <a:endParaRPr lang="en-US" sz="17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52280" marR="152280" marT="101520" marB="101520">
                    <a:lnL w="12240">
                      <a:solidFill>
                        <a:srgbClr val="FFFCF7"/>
                      </a:solidFill>
                      <a:prstDash val="solid"/>
                    </a:lnL>
                    <a:lnR w="12240">
                      <a:solidFill>
                        <a:srgbClr val="FFFCF7"/>
                      </a:solidFill>
                      <a:prstDash val="solid"/>
                    </a:lnR>
                    <a:lnT w="12240">
                      <a:solidFill>
                        <a:srgbClr val="E2D3CE"/>
                      </a:solidFill>
                      <a:prstDash val="solid"/>
                    </a:lnT>
                    <a:lnB w="12240">
                      <a:solidFill>
                        <a:srgbClr val="E2D3C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52280" tIns="101520" rIns="152280" bIns="1015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700" b="0" u="none" strike="noStrike">
                          <a:solidFill>
                            <a:srgbClr val="420C1C"/>
                          </a:solidFill>
                          <a:effectLst/>
                          <a:uFillTx/>
                          <a:latin typeface="Figtree"/>
                          <a:ea typeface="Figtree"/>
                        </a:rPr>
                        <a:t>cryptography (Ed25519), hashlib SHA-256, bcrypt, PyJWT</a:t>
                      </a:r>
                      <a:endParaRPr lang="en-US" sz="17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52280" marR="152280" marT="101520" marB="101520">
                    <a:lnL w="12240">
                      <a:solidFill>
                        <a:srgbClr val="FFFCF7"/>
                      </a:solidFill>
                      <a:prstDash val="solid"/>
                    </a:lnL>
                    <a:lnR w="12240">
                      <a:solidFill>
                        <a:srgbClr val="FFFCF7"/>
                      </a:solidFill>
                      <a:prstDash val="solid"/>
                    </a:lnR>
                    <a:lnT w="12240">
                      <a:solidFill>
                        <a:srgbClr val="E2D3CE"/>
                      </a:solidFill>
                      <a:prstDash val="solid"/>
                    </a:lnT>
                    <a:lnB w="12240">
                      <a:solidFill>
                        <a:srgbClr val="E2D3CE"/>
                      </a:solidFill>
                      <a:prstDash val="solid"/>
                    </a:lnB>
                    <a:noFill/>
                  </a:tcPr>
                </a:tc>
              </a:tr>
              <a:tr h="813960">
                <a:tc>
                  <a:txBody>
                    <a:bodyPr lIns="152280" tIns="101520" rIns="152280" bIns="1015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700" b="1" u="none" strike="noStrike">
                          <a:solidFill>
                            <a:srgbClr val="420C1C"/>
                          </a:solidFill>
                          <a:effectLst/>
                          <a:uFillTx/>
                          <a:latin typeface="Figtree"/>
                          <a:ea typeface="Figtree"/>
                        </a:rPr>
                        <a:t>Database</a:t>
                      </a:r>
                      <a:endParaRPr lang="en-US" sz="17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52280" marR="152280" marT="101520" marB="101520">
                    <a:lnL w="12240">
                      <a:solidFill>
                        <a:srgbClr val="FFFCF7"/>
                      </a:solidFill>
                      <a:prstDash val="solid"/>
                    </a:lnL>
                    <a:lnR w="12240">
                      <a:solidFill>
                        <a:srgbClr val="FFFCF7"/>
                      </a:solidFill>
                      <a:prstDash val="solid"/>
                    </a:lnR>
                    <a:lnT w="12240">
                      <a:solidFill>
                        <a:srgbClr val="E2D3CE"/>
                      </a:solidFill>
                      <a:prstDash val="solid"/>
                    </a:lnT>
                    <a:lnB w="12240">
                      <a:solidFill>
                        <a:srgbClr val="E2D3C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52280" tIns="101520" rIns="152280" bIns="1015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700" b="0" u="none" strike="noStrike">
                          <a:solidFill>
                            <a:srgbClr val="420C1C"/>
                          </a:solidFill>
                          <a:effectLst/>
                          <a:uFillTx/>
                          <a:latin typeface="Figtree"/>
                          <a:ea typeface="Figtree"/>
                        </a:rPr>
                        <a:t>SQLite, foreign keys on, unique (piece_id, seq_index)</a:t>
                      </a:r>
                      <a:endParaRPr lang="en-US" sz="17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52280" marR="152280" marT="101520" marB="101520">
                    <a:lnL w="12240">
                      <a:solidFill>
                        <a:srgbClr val="FFFCF7"/>
                      </a:solidFill>
                      <a:prstDash val="solid"/>
                    </a:lnL>
                    <a:lnR w="12240">
                      <a:solidFill>
                        <a:srgbClr val="FFFCF7"/>
                      </a:solidFill>
                      <a:prstDash val="solid"/>
                    </a:lnR>
                    <a:lnT w="12240">
                      <a:solidFill>
                        <a:srgbClr val="E2D3CE"/>
                      </a:solidFill>
                      <a:prstDash val="solid"/>
                    </a:lnT>
                    <a:lnB w="12240">
                      <a:solidFill>
                        <a:srgbClr val="E2D3CE"/>
                      </a:solidFill>
                      <a:prstDash val="solid"/>
                    </a:lnB>
                    <a:noFill/>
                  </a:tcPr>
                </a:tc>
              </a:tr>
              <a:tr h="807480">
                <a:tc>
                  <a:txBody>
                    <a:bodyPr lIns="152280" tIns="101520" rIns="152280" bIns="1015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700" b="1" u="none" strike="noStrike">
                          <a:solidFill>
                            <a:srgbClr val="420C1C"/>
                          </a:solidFill>
                          <a:effectLst/>
                          <a:uFillTx/>
                          <a:latin typeface="Figtree"/>
                          <a:ea typeface="Figtree"/>
                        </a:rPr>
                        <a:t>Frontend</a:t>
                      </a:r>
                      <a:endParaRPr lang="en-US" sz="17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52280" marR="152280" marT="101520" marB="101520">
                    <a:lnL w="12240">
                      <a:solidFill>
                        <a:srgbClr val="FFFCF7"/>
                      </a:solidFill>
                      <a:prstDash val="solid"/>
                    </a:lnL>
                    <a:lnR w="12240">
                      <a:solidFill>
                        <a:srgbClr val="FFFCF7"/>
                      </a:solidFill>
                      <a:prstDash val="solid"/>
                    </a:lnR>
                    <a:lnT w="12240">
                      <a:solidFill>
                        <a:srgbClr val="E2D3CE"/>
                      </a:solidFill>
                      <a:prstDash val="solid"/>
                    </a:lnT>
                    <a:lnB w="12240">
                      <a:solidFill>
                        <a:srgbClr val="FFFCF7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52280" tIns="101520" rIns="152280" bIns="1015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700" b="0" u="none" strike="noStrike">
                          <a:solidFill>
                            <a:srgbClr val="420C1C"/>
                          </a:solidFill>
                          <a:effectLst/>
                          <a:uFillTx/>
                          <a:latin typeface="Figtree"/>
                          <a:ea typeface="Figtree"/>
                        </a:rPr>
                        <a:t>React 19, Vite, React Router 7, qrcode.react, lucide-react</a:t>
                      </a:r>
                      <a:endParaRPr lang="en-US" sz="17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52280" marR="152280" marT="101520" marB="101520">
                    <a:lnL w="12240">
                      <a:solidFill>
                        <a:srgbClr val="FFFCF7"/>
                      </a:solidFill>
                      <a:prstDash val="solid"/>
                    </a:lnL>
                    <a:lnR w="12240">
                      <a:solidFill>
                        <a:srgbClr val="FFFCF7"/>
                      </a:solidFill>
                      <a:prstDash val="solid"/>
                    </a:lnR>
                    <a:lnT w="12240">
                      <a:solidFill>
                        <a:srgbClr val="E2D3CE"/>
                      </a:solidFill>
                      <a:prstDash val="solid"/>
                    </a:lnT>
                    <a:lnB w="12240">
                      <a:solidFill>
                        <a:srgbClr val="FFFCF7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83" name="Table 1"/>
          <p:cNvGraphicFramePr/>
          <p:nvPr/>
        </p:nvGraphicFramePr>
        <p:xfrm>
          <a:off x="6248160" y="1641600"/>
          <a:ext cx="5130360" cy="4365360"/>
        </p:xfrm>
        <a:graphic>
          <a:graphicData uri="http://schemas.openxmlformats.org/drawingml/2006/table">
            <a:tbl>
              <a:tblPr/>
              <a:tblGrid>
                <a:gridCol w="1520640"/>
                <a:gridCol w="3609720"/>
              </a:tblGrid>
              <a:tr h="511560">
                <a:tc>
                  <a:txBody>
                    <a:bodyPr lIns="152280" tIns="101520" rIns="152280" bIns="1015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700" b="0" u="none" strike="noStrike">
                          <a:solidFill>
                            <a:srgbClr val="420C1C"/>
                          </a:solidFill>
                          <a:effectLst/>
                          <a:uFillTx/>
                          <a:latin typeface="Figtree"/>
                          <a:ea typeface="Figtree"/>
                        </a:rPr>
                        <a:t>Area</a:t>
                      </a:r>
                      <a:endParaRPr lang="en-US" sz="17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52280" marR="152280" marT="101520" marB="101520">
                    <a:lnL w="12240">
                      <a:solidFill>
                        <a:srgbClr val="FFFCF7"/>
                      </a:solidFill>
                      <a:prstDash val="solid"/>
                    </a:lnL>
                    <a:lnR w="12240">
                      <a:solidFill>
                        <a:srgbClr val="FFFCF7"/>
                      </a:solidFill>
                      <a:prstDash val="solid"/>
                    </a:lnR>
                    <a:lnT w="12240">
                      <a:solidFill>
                        <a:srgbClr val="FFFCF7"/>
                      </a:solidFill>
                      <a:prstDash val="solid"/>
                    </a:lnT>
                    <a:lnB w="12240">
                      <a:solidFill>
                        <a:srgbClr val="E2D3C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52280" tIns="101520" rIns="152280" bIns="1015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700" b="0" u="none" strike="noStrike">
                          <a:solidFill>
                            <a:srgbClr val="420C1C"/>
                          </a:solidFill>
                          <a:effectLst/>
                          <a:uFillTx/>
                          <a:latin typeface="Figtree"/>
                          <a:ea typeface="Figtree"/>
                        </a:rPr>
                        <a:t>Details</a:t>
                      </a:r>
                      <a:endParaRPr lang="en-US" sz="17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52280" marR="152280" marT="101520" marB="101520">
                    <a:lnL w="12240">
                      <a:solidFill>
                        <a:srgbClr val="FFFCF7"/>
                      </a:solidFill>
                      <a:prstDash val="solid"/>
                    </a:lnL>
                    <a:lnR w="12240">
                      <a:solidFill>
                        <a:srgbClr val="FFFCF7"/>
                      </a:solidFill>
                      <a:prstDash val="solid"/>
                    </a:lnR>
                    <a:lnT w="12240">
                      <a:solidFill>
                        <a:srgbClr val="FFFCF7"/>
                      </a:solidFill>
                      <a:prstDash val="solid"/>
                    </a:lnT>
                    <a:lnB w="12240">
                      <a:solidFill>
                        <a:srgbClr val="E2D3CE"/>
                      </a:solidFill>
                      <a:prstDash val="solid"/>
                    </a:lnB>
                    <a:noFill/>
                  </a:tcPr>
                </a:tc>
              </a:tr>
              <a:tr h="813960">
                <a:tc>
                  <a:txBody>
                    <a:bodyPr lIns="152280" tIns="101520" rIns="152280" bIns="1015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700" b="1" u="none" strike="noStrike">
                          <a:solidFill>
                            <a:srgbClr val="420C1C"/>
                          </a:solidFill>
                          <a:effectLst/>
                          <a:uFillTx/>
                          <a:latin typeface="Figtree"/>
                          <a:ea typeface="Figtree"/>
                        </a:rPr>
                        <a:t>Deployment</a:t>
                      </a:r>
                      <a:endParaRPr lang="en-US" sz="17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52280" marR="152280" marT="101520" marB="101520">
                    <a:lnL w="12240">
                      <a:solidFill>
                        <a:srgbClr val="FFFCF7"/>
                      </a:solidFill>
                      <a:prstDash val="solid"/>
                    </a:lnL>
                    <a:lnR w="12240">
                      <a:solidFill>
                        <a:srgbClr val="FFFCF7"/>
                      </a:solidFill>
                      <a:prstDash val="solid"/>
                    </a:lnR>
                    <a:lnT w="12240">
                      <a:solidFill>
                        <a:srgbClr val="E2D3CE"/>
                      </a:solidFill>
                      <a:prstDash val="solid"/>
                    </a:lnT>
                    <a:lnB w="12240">
                      <a:solidFill>
                        <a:srgbClr val="E2D3C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52280" tIns="101520" rIns="152280" bIns="1015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700" b="0" u="none" strike="noStrike">
                          <a:solidFill>
                            <a:srgbClr val="420C1C"/>
                          </a:solidFill>
                          <a:effectLst/>
                          <a:uFillTx/>
                          <a:latin typeface="Figtree"/>
                          <a:ea typeface="Figtree"/>
                        </a:rPr>
                        <a:t>Render Blueprint: Python service plus static SPA</a:t>
                      </a:r>
                      <a:endParaRPr lang="en-US" sz="17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52280" marR="152280" marT="101520" marB="101520">
                    <a:lnL w="12240">
                      <a:solidFill>
                        <a:srgbClr val="FFFCF7"/>
                      </a:solidFill>
                      <a:prstDash val="solid"/>
                    </a:lnL>
                    <a:lnR w="12240">
                      <a:solidFill>
                        <a:srgbClr val="FFFCF7"/>
                      </a:solidFill>
                      <a:prstDash val="solid"/>
                    </a:lnR>
                    <a:lnT w="12240">
                      <a:solidFill>
                        <a:srgbClr val="E2D3CE"/>
                      </a:solidFill>
                      <a:prstDash val="solid"/>
                    </a:lnT>
                    <a:lnB w="12240">
                      <a:solidFill>
                        <a:srgbClr val="E2D3CE"/>
                      </a:solidFill>
                      <a:prstDash val="solid"/>
                    </a:lnB>
                    <a:noFill/>
                  </a:tcPr>
                </a:tc>
              </a:tr>
              <a:tr h="1116000">
                <a:tc>
                  <a:txBody>
                    <a:bodyPr lIns="152280" tIns="101520" rIns="152280" bIns="1015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700" b="1" u="none" strike="noStrike">
                          <a:solidFill>
                            <a:srgbClr val="420C1C"/>
                          </a:solidFill>
                          <a:effectLst/>
                          <a:uFillTx/>
                          <a:latin typeface="Figtree"/>
                          <a:ea typeface="Figtree"/>
                        </a:rPr>
                        <a:t>Key modules</a:t>
                      </a:r>
                      <a:endParaRPr lang="en-US" sz="17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52280" marR="152280" marT="101520" marB="101520">
                    <a:lnL w="12240">
                      <a:solidFill>
                        <a:srgbClr val="FFFCF7"/>
                      </a:solidFill>
                      <a:prstDash val="solid"/>
                    </a:lnL>
                    <a:lnR w="12240">
                      <a:solidFill>
                        <a:srgbClr val="FFFCF7"/>
                      </a:solidFill>
                      <a:prstDash val="solid"/>
                    </a:lnR>
                    <a:lnT w="12240">
                      <a:solidFill>
                        <a:srgbClr val="E2D3CE"/>
                      </a:solidFill>
                      <a:prstDash val="solid"/>
                    </a:lnT>
                    <a:lnB w="12240">
                      <a:solidFill>
                        <a:srgbClr val="E2D3C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52280" tIns="101520" rIns="152280" bIns="1015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700" b="0" u="none" strike="noStrike">
                          <a:solidFill>
                            <a:srgbClr val="420C1C"/>
                          </a:solidFill>
                          <a:effectLst/>
                          <a:uFillTx/>
                          <a:latin typeface="Figtree"/>
                          <a:ea typeface="Figtree"/>
                        </a:rPr>
                        <a:t>crypto_utils, record, core, merkle, auth, main, verify_cli, seed, tamper_demo, test_crypto</a:t>
                      </a:r>
                      <a:endParaRPr lang="en-US" sz="17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52280" marR="152280" marT="101520" marB="101520">
                    <a:lnL w="12240">
                      <a:solidFill>
                        <a:srgbClr val="FFFCF7"/>
                      </a:solidFill>
                      <a:prstDash val="solid"/>
                    </a:lnL>
                    <a:lnR w="12240">
                      <a:solidFill>
                        <a:srgbClr val="FFFCF7"/>
                      </a:solidFill>
                      <a:prstDash val="solid"/>
                    </a:lnR>
                    <a:lnT w="12240">
                      <a:solidFill>
                        <a:srgbClr val="E2D3CE"/>
                      </a:solidFill>
                      <a:prstDash val="solid"/>
                    </a:lnT>
                    <a:lnB w="12240">
                      <a:solidFill>
                        <a:srgbClr val="E2D3CE"/>
                      </a:solidFill>
                      <a:prstDash val="solid"/>
                    </a:lnB>
                    <a:noFill/>
                  </a:tcPr>
                </a:tc>
              </a:tr>
              <a:tr h="813960">
                <a:tc>
                  <a:txBody>
                    <a:bodyPr lIns="152280" tIns="101520" rIns="152280" bIns="1015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700" b="1" u="none" strike="noStrike">
                          <a:solidFill>
                            <a:srgbClr val="420C1C"/>
                          </a:solidFill>
                          <a:effectLst/>
                          <a:uFillTx/>
                          <a:latin typeface="Figtree"/>
                          <a:ea typeface="Figtree"/>
                        </a:rPr>
                        <a:t>Roles</a:t>
                      </a:r>
                      <a:endParaRPr lang="en-US" sz="17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52280" marR="152280" marT="101520" marB="101520">
                    <a:lnL w="12240">
                      <a:solidFill>
                        <a:srgbClr val="FFFCF7"/>
                      </a:solidFill>
                      <a:prstDash val="solid"/>
                    </a:lnL>
                    <a:lnR w="12240">
                      <a:solidFill>
                        <a:srgbClr val="FFFCF7"/>
                      </a:solidFill>
                      <a:prstDash val="solid"/>
                    </a:lnR>
                    <a:lnT w="12240">
                      <a:solidFill>
                        <a:srgbClr val="E2D3CE"/>
                      </a:solidFill>
                      <a:prstDash val="solid"/>
                    </a:lnT>
                    <a:lnB w="12240">
                      <a:solidFill>
                        <a:srgbClr val="E2D3C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52280" tIns="101520" rIns="152280" bIns="1015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700" b="0" u="none" strike="noStrike">
                          <a:solidFill>
                            <a:srgbClr val="420C1C"/>
                          </a:solidFill>
                          <a:effectLst/>
                          <a:uFillTx/>
                          <a:latin typeface="Figtree"/>
                          <a:ea typeface="Figtree"/>
                        </a:rPr>
                        <a:t>Two roles: maker and seller (gallery); buyers are external</a:t>
                      </a:r>
                      <a:endParaRPr lang="en-US" sz="17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52280" marR="152280" marT="101520" marB="101520">
                    <a:lnL w="12240">
                      <a:solidFill>
                        <a:srgbClr val="FFFCF7"/>
                      </a:solidFill>
                      <a:prstDash val="solid"/>
                    </a:lnL>
                    <a:lnR w="12240">
                      <a:solidFill>
                        <a:srgbClr val="FFFCF7"/>
                      </a:solidFill>
                      <a:prstDash val="solid"/>
                    </a:lnR>
                    <a:lnT w="12240">
                      <a:solidFill>
                        <a:srgbClr val="E2D3CE"/>
                      </a:solidFill>
                      <a:prstDash val="solid"/>
                    </a:lnT>
                    <a:lnB w="12240">
                      <a:solidFill>
                        <a:srgbClr val="E2D3CE"/>
                      </a:solidFill>
                      <a:prstDash val="solid"/>
                    </a:lnB>
                    <a:noFill/>
                  </a:tcPr>
                </a:tc>
              </a:tr>
              <a:tr h="1109520">
                <a:tc>
                  <a:txBody>
                    <a:bodyPr lIns="152280" tIns="101520" rIns="152280" bIns="1015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700" b="1" u="none" strike="noStrike">
                          <a:solidFill>
                            <a:srgbClr val="420C1C"/>
                          </a:solidFill>
                          <a:effectLst/>
                          <a:uFillTx/>
                          <a:latin typeface="Figtree"/>
                          <a:ea typeface="Figtree"/>
                        </a:rPr>
                        <a:t>Demo</a:t>
                      </a:r>
                      <a:endParaRPr lang="en-US" sz="17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52280" marR="152280" marT="101520" marB="101520">
                    <a:lnL w="12240">
                      <a:solidFill>
                        <a:srgbClr val="FFFCF7"/>
                      </a:solidFill>
                      <a:prstDash val="solid"/>
                    </a:lnL>
                    <a:lnR w="12240">
                      <a:solidFill>
                        <a:srgbClr val="FFFCF7"/>
                      </a:solidFill>
                      <a:prstDash val="solid"/>
                    </a:lnR>
                    <a:lnT w="12240">
                      <a:solidFill>
                        <a:srgbClr val="E2D3CE"/>
                      </a:solidFill>
                      <a:prstDash val="solid"/>
                    </a:lnT>
                    <a:lnB w="12240">
                      <a:solidFill>
                        <a:srgbClr val="FFFCF7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52280" tIns="101520" rIns="152280" bIns="1015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700" b="0" u="none" strike="noStrike">
                          <a:solidFill>
                            <a:srgbClr val="420C1C"/>
                          </a:solidFill>
                          <a:effectLst/>
                          <a:uFillTx/>
                          <a:latin typeface="Figtree"/>
                          <a:ea typeface="Figtree"/>
                        </a:rPr>
                        <a:t>No external dataset; seeded demo of 3 makers, 2 galleries, 5 pieces</a:t>
                      </a:r>
                      <a:endParaRPr lang="en-US" sz="17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52280" marR="152280" marT="101520" marB="101520">
                    <a:lnL w="12240">
                      <a:solidFill>
                        <a:srgbClr val="FFFCF7"/>
                      </a:solidFill>
                      <a:prstDash val="solid"/>
                    </a:lnL>
                    <a:lnR w="12240">
                      <a:solidFill>
                        <a:srgbClr val="FFFCF7"/>
                      </a:solidFill>
                      <a:prstDash val="solid"/>
                    </a:lnR>
                    <a:lnT w="12240">
                      <a:solidFill>
                        <a:srgbClr val="E2D3CE"/>
                      </a:solidFill>
                      <a:prstDash val="solid"/>
                    </a:lnT>
                    <a:lnB w="12240">
                      <a:solidFill>
                        <a:srgbClr val="FFFCF7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Text 0"/>
          <p:cNvSpPr/>
          <p:nvPr/>
        </p:nvSpPr>
        <p:spPr>
          <a:xfrm>
            <a:off x="812880" y="816120"/>
            <a:ext cx="11175480" cy="21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8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7A5C60"/>
                </a:solidFill>
                <a:effectLst/>
                <a:uFillTx/>
                <a:latin typeface="Figtree Medium"/>
                <a:ea typeface="Figtree Medium"/>
              </a:rPr>
              <a:t>EXPERIMENTAL EVALUATION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1"/>
          <p:cNvSpPr/>
          <p:nvPr/>
        </p:nvSpPr>
        <p:spPr>
          <a:xfrm>
            <a:off x="812880" y="1165680"/>
            <a:ext cx="914328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88000"/>
              </a:lnSpc>
              <a:tabLst>
                <a:tab pos="0" algn="l"/>
              </a:tabLst>
            </a:pPr>
            <a:r>
              <a:rPr lang="en-US" sz="3000" b="0" u="none" spc="-45" strike="noStrike">
                <a:solidFill>
                  <a:srgbClr val="420C1C"/>
                </a:solidFill>
                <a:effectLst/>
                <a:uFillTx/>
                <a:latin typeface="Cormorant Garamond SemiBold"/>
                <a:ea typeface="Cormorant Garamond SemiBold"/>
              </a:rPr>
              <a:t>12 of 12 security tests pass, and tampering is pinpointed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2"/>
          <p:cNvSpPr/>
          <p:nvPr/>
        </p:nvSpPr>
        <p:spPr>
          <a:xfrm>
            <a:off x="812880" y="1824480"/>
            <a:ext cx="505404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pc="-11" strike="noStrike">
                <a:solidFill>
                  <a:srgbClr val="420C1C"/>
                </a:solidFill>
                <a:effectLst/>
                <a:uFillTx/>
                <a:latin typeface="Figtree SemiBold"/>
                <a:ea typeface="Figtree SemiBold"/>
              </a:rPr>
              <a:t>Test coverage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3"/>
          <p:cNvSpPr/>
          <p:nvPr/>
        </p:nvSpPr>
        <p:spPr>
          <a:xfrm>
            <a:off x="812880" y="2332440"/>
            <a:ext cx="5054040" cy="167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17000"/>
              </a:lnSpc>
              <a:spcAft>
                <a:spcPts val="1250"/>
              </a:spcAft>
              <a:tabLst>
                <a:tab pos="0" algn="l"/>
              </a:tabLst>
            </a:pP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Deterministic hashing; Ed25519 round-trip; Merkle proofs; domain separation; edit, rename and deletion detection; checkpoint evolution.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7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Strongest attack: a re-hashed forgery still fails on signature or linkage.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4"/>
          <p:cNvSpPr/>
          <p:nvPr/>
        </p:nvSpPr>
        <p:spPr>
          <a:xfrm>
            <a:off x="812880" y="4262400"/>
            <a:ext cx="505404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pc="-11" strike="noStrike">
                <a:solidFill>
                  <a:srgbClr val="420C1C"/>
                </a:solidFill>
                <a:effectLst/>
                <a:uFillTx/>
                <a:latin typeface="Figtree SemiBold"/>
                <a:ea typeface="Figtree SemiBold"/>
              </a:rPr>
              <a:t>Tamper demonstration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5"/>
          <p:cNvSpPr/>
          <p:nvPr/>
        </p:nvSpPr>
        <p:spPr>
          <a:xfrm>
            <a:off x="812880" y="4771080"/>
            <a:ext cx="5054040" cy="90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 lnSpcReduction="9999"/>
          </a:bodyPr>
          <a:p>
            <a:pPr defTabSz="914400">
              <a:lnSpc>
                <a:spcPct val="117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Altering record 1's note: [FAIL] content hash mismatch; records 0 and 2 pass; result NOT 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AUTHENTIC.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6"/>
          <p:cNvSpPr/>
          <p:nvPr/>
        </p:nvSpPr>
        <p:spPr>
          <a:xfrm>
            <a:off x="6324480" y="1824480"/>
            <a:ext cx="505404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pc="-11" strike="noStrike">
                <a:solidFill>
                  <a:srgbClr val="420C1C"/>
                </a:solidFill>
                <a:effectLst/>
                <a:uFillTx/>
                <a:latin typeface="Figtree SemiBold"/>
                <a:ea typeface="Figtree SemiBold"/>
              </a:rPr>
              <a:t>Pub</a:t>
            </a:r>
            <a:r>
              <a:rPr lang="en-US" sz="2000" b="0" u="none" spc="-11" strike="noStrike">
                <a:solidFill>
                  <a:srgbClr val="420C1C"/>
                </a:solidFill>
                <a:effectLst/>
                <a:uFillTx/>
                <a:latin typeface="Figtree SemiBold"/>
                <a:ea typeface="Figtree SemiBold"/>
              </a:rPr>
              <a:t>lic </a:t>
            </a:r>
            <a:r>
              <a:rPr lang="en-US" sz="2000" b="0" u="none" spc="-11" strike="noStrike">
                <a:solidFill>
                  <a:srgbClr val="420C1C"/>
                </a:solidFill>
                <a:effectLst/>
                <a:uFillTx/>
                <a:latin typeface="Figtree SemiBold"/>
                <a:ea typeface="Figtree SemiBold"/>
              </a:rPr>
              <a:t>led</a:t>
            </a:r>
            <a:r>
              <a:rPr lang="en-US" sz="2000" b="0" u="none" spc="-11" strike="noStrike">
                <a:solidFill>
                  <a:srgbClr val="420C1C"/>
                </a:solidFill>
                <a:effectLst/>
                <a:uFillTx/>
                <a:latin typeface="Figtree SemiBold"/>
                <a:ea typeface="Figtree SemiBold"/>
              </a:rPr>
              <a:t>ger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7"/>
          <p:cNvSpPr/>
          <p:nvPr/>
        </p:nvSpPr>
        <p:spPr>
          <a:xfrm>
            <a:off x="6324480" y="2332800"/>
            <a:ext cx="5054040" cy="30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17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Checkpoint #4 sealed over 23 records.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8"/>
          <p:cNvSpPr/>
          <p:nvPr/>
        </p:nvSpPr>
        <p:spPr>
          <a:xfrm>
            <a:off x="6324480" y="2888640"/>
            <a:ext cx="505404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pc="-11" strike="noStrike">
                <a:solidFill>
                  <a:srgbClr val="420C1C"/>
                </a:solidFill>
                <a:effectLst/>
                <a:uFillTx/>
                <a:latin typeface="Figtree SemiBold"/>
                <a:ea typeface="Figtree SemiBold"/>
              </a:rPr>
              <a:t>Lim</a:t>
            </a:r>
            <a:r>
              <a:rPr lang="en-US" sz="2000" b="0" u="none" spc="-11" strike="noStrike">
                <a:solidFill>
                  <a:srgbClr val="420C1C"/>
                </a:solidFill>
                <a:effectLst/>
                <a:uFillTx/>
                <a:latin typeface="Figtree SemiBold"/>
                <a:ea typeface="Figtree SemiBold"/>
              </a:rPr>
              <a:t>itati</a:t>
            </a:r>
            <a:r>
              <a:rPr lang="en-US" sz="2000" b="0" u="none" spc="-11" strike="noStrike">
                <a:solidFill>
                  <a:srgbClr val="420C1C"/>
                </a:solidFill>
                <a:effectLst/>
                <a:uFillTx/>
                <a:latin typeface="Figtree SemiBold"/>
                <a:ea typeface="Figtree SemiBold"/>
              </a:rPr>
              <a:t>ons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9"/>
          <p:cNvSpPr/>
          <p:nvPr/>
        </p:nvSpPr>
        <p:spPr>
          <a:xfrm>
            <a:off x="6324480" y="3397320"/>
            <a:ext cx="5054040" cy="181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 lnSpcReduction="9999"/>
          </a:bodyPr>
          <a:p>
            <a:pPr defTabSz="914400">
              <a:lnSpc>
                <a:spcPct val="117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QR 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can 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be 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re-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attac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hed 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to 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anot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her 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obje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ct; 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priva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te 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keys 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held 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serve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r-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side; 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piece 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meta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data 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not 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signe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d; tail 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trunc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ation 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unde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tecte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d 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with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out a 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signe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d 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head; 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chec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kpoin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ts in 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the 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same 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DB; 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dem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o-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grad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e 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hard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enin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g 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(hard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-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code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d 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JWT 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secre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t, 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open 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admi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n 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endp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oints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); no 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perfo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rman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ce 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benc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hmar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ks </a:t>
            </a: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yet.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ext 0"/>
          <p:cNvSpPr/>
          <p:nvPr/>
        </p:nvSpPr>
        <p:spPr>
          <a:xfrm>
            <a:off x="812880" y="836640"/>
            <a:ext cx="9143280" cy="79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 lnSpcReduction="9999"/>
          </a:bodyPr>
          <a:p>
            <a:pPr defTabSz="914400">
              <a:lnSpc>
                <a:spcPct val="88000"/>
              </a:lnSpc>
              <a:tabLst>
                <a:tab pos="0" algn="l"/>
              </a:tabLst>
            </a:pPr>
            <a:r>
              <a:rPr lang="en-US" sz="3000" b="0" u="none" spc="-45" strike="noStrike">
                <a:solidFill>
                  <a:srgbClr val="420C1C"/>
                </a:solidFill>
                <a:effectLst/>
                <a:uFillTx/>
                <a:latin typeface="Cormorant Garamond SemiBold"/>
                <a:ea typeface="Cormorant Garamond SemiBold"/>
              </a:rPr>
              <a:t>Tamper-evident provenance works without blockchain or technical users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Shape 1"/>
          <p:cNvSpPr/>
          <p:nvPr/>
        </p:nvSpPr>
        <p:spPr>
          <a:xfrm>
            <a:off x="812880" y="1949400"/>
            <a:ext cx="1320480" cy="37800"/>
          </a:xfrm>
          <a:prstGeom prst="roundRect">
            <a:avLst>
              <a:gd name="adj" fmla="val 49999"/>
            </a:avLst>
          </a:prstGeom>
          <a:solidFill>
            <a:srgbClr val="2EC4B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18000" rIns="90000" bIns="-18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6" name="Text 2"/>
          <p:cNvSpPr/>
          <p:nvPr/>
        </p:nvSpPr>
        <p:spPr>
          <a:xfrm>
            <a:off x="812880" y="2295360"/>
            <a:ext cx="485100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pc="-11" strike="noStrike">
                <a:solidFill>
                  <a:srgbClr val="420C1C"/>
                </a:solidFill>
                <a:effectLst/>
                <a:uFillTx/>
                <a:latin typeface="Figtree SemiBold"/>
                <a:ea typeface="Figtree SemiBold"/>
              </a:rPr>
              <a:t>Working, deployed system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3"/>
          <p:cNvSpPr/>
          <p:nvPr/>
        </p:nvSpPr>
        <p:spPr>
          <a:xfrm>
            <a:off x="812880" y="2804040"/>
            <a:ext cx="4851000" cy="60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 lnSpcReduction="9999"/>
          </a:bodyPr>
          <a:p>
            <a:pPr defTabSz="914400">
              <a:lnSpc>
                <a:spcPct val="117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All seven objectives O1–O7 met, with 12/12 tests including re-hash forgery.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4"/>
          <p:cNvSpPr/>
          <p:nvPr/>
        </p:nvSpPr>
        <p:spPr>
          <a:xfrm>
            <a:off x="6527520" y="2295360"/>
            <a:ext cx="485100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pc="-11" strike="noStrike">
                <a:solidFill>
                  <a:srgbClr val="420C1C"/>
                </a:solidFill>
                <a:effectLst/>
                <a:uFillTx/>
                <a:latin typeface="Figtree SemiBold"/>
                <a:ea typeface="Figtree SemiBold"/>
              </a:rPr>
              <a:t>Future scope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5"/>
          <p:cNvSpPr/>
          <p:nvPr/>
        </p:nvSpPr>
        <p:spPr>
          <a:xfrm>
            <a:off x="6527520" y="2803680"/>
            <a:ext cx="4851000" cy="197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 lnSpcReduction="9999"/>
          </a:bodyPr>
          <a:p>
            <a:pPr defTabSz="914400">
              <a:lnSpc>
                <a:spcPct val="117000"/>
              </a:lnSpc>
              <a:spcAft>
                <a:spcPts val="1250"/>
              </a:spcAft>
              <a:tabLst>
                <a:tab pos="0" algn="l"/>
              </a:tabLst>
            </a:pP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Client-side or hardware-backed keys; sign piece metadata and a chain head; external anchoring of checkpoint roots; NFC or tamper-evident tags.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7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420C1C"/>
                </a:solidFill>
                <a:effectLst/>
                <a:uFillTx/>
                <a:latin typeface="Figtree"/>
                <a:ea typeface="Figtree"/>
              </a:rPr>
              <a:t>Also: PostgreSQL and rate limiting, marketplace plug-in, multi-language UI, benchmarks and a usability study.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Shape 6"/>
          <p:cNvSpPr/>
          <p:nvPr/>
        </p:nvSpPr>
        <p:spPr>
          <a:xfrm>
            <a:off x="812880" y="5088240"/>
            <a:ext cx="10565640" cy="31320"/>
          </a:xfrm>
          <a:prstGeom prst="roundRect">
            <a:avLst>
              <a:gd name="adj" fmla="val 49998"/>
            </a:avLst>
          </a:prstGeom>
          <a:solidFill>
            <a:srgbClr val="E2D3C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22320" rIns="90000" bIns="-2232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1" name="Text 7"/>
          <p:cNvSpPr/>
          <p:nvPr/>
        </p:nvSpPr>
        <p:spPr>
          <a:xfrm>
            <a:off x="812880" y="5429880"/>
            <a:ext cx="10565640" cy="64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8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7A5C60"/>
                </a:solidFill>
                <a:effectLst/>
                <a:uFillTx/>
                <a:latin typeface="Figtree"/>
                <a:ea typeface="Figtree"/>
              </a:rPr>
              <a:t>Refer</a:t>
            </a:r>
            <a:r>
              <a:rPr lang="en-US" sz="1300" b="0" u="none" strike="noStrike">
                <a:solidFill>
                  <a:srgbClr val="7A5C60"/>
                </a:solidFill>
                <a:effectLst/>
                <a:uFillTx/>
                <a:latin typeface="Figtree"/>
                <a:ea typeface="Figtree"/>
              </a:rPr>
              <a:t>ences </a:t>
            </a:r>
            <a:r>
              <a:rPr lang="en-US" sz="1300" b="0" u="none" strike="noStrike">
                <a:solidFill>
                  <a:srgbClr val="7A5C60"/>
                </a:solidFill>
                <a:effectLst/>
                <a:uFillTx/>
                <a:latin typeface="Figtree"/>
                <a:ea typeface="Figtree"/>
              </a:rPr>
              <a:t>(IEEE, </a:t>
            </a:r>
            <a:r>
              <a:rPr lang="en-US" sz="1300" b="0" u="none" strike="noStrike">
                <a:solidFill>
                  <a:srgbClr val="7A5C60"/>
                </a:solidFill>
                <a:effectLst/>
                <a:uFillTx/>
                <a:latin typeface="Figtree"/>
                <a:ea typeface="Figtree"/>
              </a:rPr>
              <a:t>to </a:t>
            </a:r>
            <a:r>
              <a:rPr lang="en-US" sz="1300" b="0" u="none" strike="noStrike">
                <a:solidFill>
                  <a:srgbClr val="7A5C60"/>
                </a:solidFill>
                <a:effectLst/>
                <a:uFillTx/>
                <a:latin typeface="Figtree"/>
                <a:ea typeface="Figtree"/>
              </a:rPr>
              <a:t>verify)</a:t>
            </a:r>
            <a:r>
              <a:rPr lang="en-US" sz="1300" b="0" u="none" strike="noStrike">
                <a:solidFill>
                  <a:srgbClr val="7A5C60"/>
                </a:solidFill>
                <a:effectLst/>
                <a:uFillTx/>
                <a:latin typeface="Figtree"/>
                <a:ea typeface="Figtree"/>
              </a:rPr>
              <a:t>: [1] </a:t>
            </a:r>
            <a:r>
              <a:rPr lang="en-US" sz="1300" b="0" u="none" strike="noStrike">
                <a:solidFill>
                  <a:srgbClr val="7A5C60"/>
                </a:solidFill>
                <a:effectLst/>
                <a:uFillTx/>
                <a:latin typeface="Figtree"/>
                <a:ea typeface="Figtree"/>
              </a:rPr>
              <a:t>Haber </a:t>
            </a:r>
            <a:r>
              <a:rPr lang="en-US" sz="1300" b="0" u="none" strike="noStrike">
                <a:solidFill>
                  <a:srgbClr val="7A5C60"/>
                </a:solidFill>
                <a:effectLst/>
                <a:uFillTx/>
                <a:latin typeface="Figtree"/>
                <a:ea typeface="Figtree"/>
              </a:rPr>
              <a:t>&amp; </a:t>
            </a:r>
            <a:r>
              <a:rPr lang="en-US" sz="1300" b="0" u="none" strike="noStrike">
                <a:solidFill>
                  <a:srgbClr val="7A5C60"/>
                </a:solidFill>
                <a:effectLst/>
                <a:uFillTx/>
                <a:latin typeface="Figtree"/>
                <a:ea typeface="Figtree"/>
              </a:rPr>
              <a:t>Storn</a:t>
            </a:r>
            <a:r>
              <a:rPr lang="en-US" sz="1300" b="0" u="none" strike="noStrike">
                <a:solidFill>
                  <a:srgbClr val="7A5C60"/>
                </a:solidFill>
                <a:effectLst/>
                <a:uFillTx/>
                <a:latin typeface="Figtree"/>
                <a:ea typeface="Figtree"/>
              </a:rPr>
              <a:t>etta, </a:t>
            </a:r>
            <a:r>
              <a:rPr lang="en-US" sz="1300" b="0" u="none" strike="noStrike">
                <a:solidFill>
                  <a:srgbClr val="7A5C60"/>
                </a:solidFill>
                <a:effectLst/>
                <a:uFillTx/>
                <a:latin typeface="Figtree"/>
                <a:ea typeface="Figtree"/>
              </a:rPr>
              <a:t>J. </a:t>
            </a:r>
            <a:r>
              <a:rPr lang="en-US" sz="1300" b="0" u="none" strike="noStrike">
                <a:solidFill>
                  <a:srgbClr val="7A5C60"/>
                </a:solidFill>
                <a:effectLst/>
                <a:uFillTx/>
                <a:latin typeface="Figtree"/>
                <a:ea typeface="Figtree"/>
              </a:rPr>
              <a:t>Crypt</a:t>
            </a:r>
            <a:r>
              <a:rPr lang="en-US" sz="1300" b="0" u="none" strike="noStrike">
                <a:solidFill>
                  <a:srgbClr val="7A5C60"/>
                </a:solidFill>
                <a:effectLst/>
                <a:uFillTx/>
                <a:latin typeface="Figtree"/>
                <a:ea typeface="Figtree"/>
              </a:rPr>
              <a:t>ology, </a:t>
            </a:r>
            <a:r>
              <a:rPr lang="en-US" sz="1300" b="0" u="none" strike="noStrike">
                <a:solidFill>
                  <a:srgbClr val="7A5C60"/>
                </a:solidFill>
                <a:effectLst/>
                <a:uFillTx/>
                <a:latin typeface="Figtree"/>
                <a:ea typeface="Figtree"/>
              </a:rPr>
              <a:t>1991. </a:t>
            </a:r>
            <a:r>
              <a:rPr lang="en-US" sz="1300" b="0" u="none" strike="noStrike">
                <a:solidFill>
                  <a:srgbClr val="7A5C60"/>
                </a:solidFill>
                <a:effectLst/>
                <a:uFillTx/>
                <a:latin typeface="Figtree"/>
                <a:ea typeface="Figtree"/>
              </a:rPr>
              <a:t>[2] </a:t>
            </a:r>
            <a:r>
              <a:rPr lang="en-US" sz="1300" b="0" u="none" strike="noStrike">
                <a:solidFill>
                  <a:srgbClr val="7A5C60"/>
                </a:solidFill>
                <a:effectLst/>
                <a:uFillTx/>
                <a:latin typeface="Figtree"/>
                <a:ea typeface="Figtree"/>
              </a:rPr>
              <a:t>Merkl</a:t>
            </a:r>
            <a:r>
              <a:rPr lang="en-US" sz="1300" b="0" u="none" strike="noStrike">
                <a:solidFill>
                  <a:srgbClr val="7A5C60"/>
                </a:solidFill>
                <a:effectLst/>
                <a:uFillTx/>
                <a:latin typeface="Figtree"/>
                <a:ea typeface="Figtree"/>
              </a:rPr>
              <a:t>e, </a:t>
            </a:r>
            <a:r>
              <a:rPr lang="en-US" sz="1300" b="0" u="none" strike="noStrike">
                <a:solidFill>
                  <a:srgbClr val="7A5C60"/>
                </a:solidFill>
                <a:effectLst/>
                <a:uFillTx/>
                <a:latin typeface="Figtree"/>
                <a:ea typeface="Figtree"/>
              </a:rPr>
              <a:t>CRYP</a:t>
            </a:r>
            <a:r>
              <a:rPr lang="en-US" sz="1300" b="0" u="none" strike="noStrike">
                <a:solidFill>
                  <a:srgbClr val="7A5C60"/>
                </a:solidFill>
                <a:effectLst/>
                <a:uFillTx/>
                <a:latin typeface="Figtree"/>
                <a:ea typeface="Figtree"/>
              </a:rPr>
              <a:t>TO </a:t>
            </a:r>
            <a:r>
              <a:rPr lang="en-US" sz="1300" b="0" u="none" strike="noStrike">
                <a:solidFill>
                  <a:srgbClr val="7A5C60"/>
                </a:solidFill>
                <a:effectLst/>
                <a:uFillTx/>
                <a:latin typeface="Figtree"/>
                <a:ea typeface="Figtree"/>
              </a:rPr>
              <a:t>'87. </a:t>
            </a:r>
            <a:r>
              <a:rPr lang="en-US" sz="1300" b="0" u="none" strike="noStrike">
                <a:solidFill>
                  <a:srgbClr val="7A5C60"/>
                </a:solidFill>
                <a:effectLst/>
                <a:uFillTx/>
                <a:latin typeface="Figtree"/>
                <a:ea typeface="Figtree"/>
              </a:rPr>
              <a:t>[3] </a:t>
            </a:r>
            <a:r>
              <a:rPr lang="en-US" sz="1300" b="0" u="none" strike="noStrike">
                <a:solidFill>
                  <a:srgbClr val="7A5C60"/>
                </a:solidFill>
                <a:effectLst/>
                <a:uFillTx/>
                <a:latin typeface="Figtree"/>
                <a:ea typeface="Figtree"/>
              </a:rPr>
              <a:t>Bernst</a:t>
            </a:r>
            <a:r>
              <a:rPr lang="en-US" sz="1300" b="0" u="none" strike="noStrike">
                <a:solidFill>
                  <a:srgbClr val="7A5C60"/>
                </a:solidFill>
                <a:effectLst/>
                <a:uFillTx/>
                <a:latin typeface="Figtree"/>
                <a:ea typeface="Figtree"/>
              </a:rPr>
              <a:t>ein et </a:t>
            </a:r>
            <a:r>
              <a:rPr lang="en-US" sz="1300" b="0" u="none" strike="noStrike">
                <a:solidFill>
                  <a:srgbClr val="7A5C60"/>
                </a:solidFill>
                <a:effectLst/>
                <a:uFillTx/>
                <a:latin typeface="Figtree"/>
                <a:ea typeface="Figtree"/>
              </a:rPr>
              <a:t>al., J. </a:t>
            </a:r>
            <a:r>
              <a:rPr lang="en-US" sz="1300" b="0" u="none" strike="noStrike">
                <a:solidFill>
                  <a:srgbClr val="7A5C60"/>
                </a:solidFill>
                <a:effectLst/>
                <a:uFillTx/>
                <a:latin typeface="Figtree"/>
                <a:ea typeface="Figtree"/>
              </a:rPr>
              <a:t>Crypt</a:t>
            </a:r>
            <a:r>
              <a:rPr lang="en-US" sz="1300" b="0" u="none" strike="noStrike">
                <a:solidFill>
                  <a:srgbClr val="7A5C60"/>
                </a:solidFill>
                <a:effectLst/>
                <a:uFillTx/>
                <a:latin typeface="Figtree"/>
                <a:ea typeface="Figtree"/>
              </a:rPr>
              <a:t>ograp</a:t>
            </a:r>
            <a:r>
              <a:rPr lang="en-US" sz="1300" b="0" u="none" strike="noStrike">
                <a:solidFill>
                  <a:srgbClr val="7A5C60"/>
                </a:solidFill>
                <a:effectLst/>
                <a:uFillTx/>
                <a:latin typeface="Figtree"/>
                <a:ea typeface="Figtree"/>
              </a:rPr>
              <a:t>hic </a:t>
            </a:r>
            <a:r>
              <a:rPr lang="en-US" sz="1300" b="0" u="none" strike="noStrike">
                <a:solidFill>
                  <a:srgbClr val="7A5C60"/>
                </a:solidFill>
                <a:effectLst/>
                <a:uFillTx/>
                <a:latin typeface="Figtree"/>
                <a:ea typeface="Figtree"/>
              </a:rPr>
              <a:t>Eng., </a:t>
            </a:r>
            <a:r>
              <a:rPr lang="en-US" sz="1300" b="0" u="none" strike="noStrike">
                <a:solidFill>
                  <a:srgbClr val="7A5C60"/>
                </a:solidFill>
                <a:effectLst/>
                <a:uFillTx/>
                <a:latin typeface="Figtree"/>
                <a:ea typeface="Figtree"/>
              </a:rPr>
              <a:t>2012. </a:t>
            </a:r>
            <a:r>
              <a:rPr lang="en-US" sz="1300" b="0" u="none" strike="noStrike">
                <a:solidFill>
                  <a:srgbClr val="7A5C60"/>
                </a:solidFill>
                <a:effectLst/>
                <a:uFillTx/>
                <a:latin typeface="Figtree"/>
                <a:ea typeface="Figtree"/>
              </a:rPr>
              <a:t>[4] </a:t>
            </a:r>
            <a:r>
              <a:rPr lang="en-US" sz="1300" b="0" u="none" strike="noStrike">
                <a:solidFill>
                  <a:srgbClr val="7A5C60"/>
                </a:solidFill>
                <a:effectLst/>
                <a:uFillTx/>
                <a:latin typeface="Figtree"/>
                <a:ea typeface="Figtree"/>
              </a:rPr>
              <a:t>RFC </a:t>
            </a:r>
            <a:r>
              <a:rPr lang="en-US" sz="1300" b="0" u="none" strike="noStrike">
                <a:solidFill>
                  <a:srgbClr val="7A5C60"/>
                </a:solidFill>
                <a:effectLst/>
                <a:uFillTx/>
                <a:latin typeface="Figtree"/>
                <a:ea typeface="Figtree"/>
              </a:rPr>
              <a:t>8032. </a:t>
            </a:r>
            <a:r>
              <a:rPr lang="en-US" sz="1300" b="0" u="none" strike="noStrike">
                <a:solidFill>
                  <a:srgbClr val="7A5C60"/>
                </a:solidFill>
                <a:effectLst/>
                <a:uFillTx/>
                <a:latin typeface="Figtree"/>
                <a:ea typeface="Figtree"/>
              </a:rPr>
              <a:t>[5] </a:t>
            </a:r>
            <a:r>
              <a:rPr lang="en-US" sz="1300" b="0" u="none" strike="noStrike">
                <a:solidFill>
                  <a:srgbClr val="7A5C60"/>
                </a:solidFill>
                <a:effectLst/>
                <a:uFillTx/>
                <a:latin typeface="Figtree"/>
                <a:ea typeface="Figtree"/>
              </a:rPr>
              <a:t>RFC </a:t>
            </a:r>
            <a:r>
              <a:rPr lang="en-US" sz="1300" b="0" u="none" strike="noStrike">
                <a:solidFill>
                  <a:srgbClr val="7A5C60"/>
                </a:solidFill>
                <a:effectLst/>
                <a:uFillTx/>
                <a:latin typeface="Figtree"/>
                <a:ea typeface="Figtree"/>
              </a:rPr>
              <a:t>6962. </a:t>
            </a:r>
            <a:r>
              <a:rPr lang="en-US" sz="1300" b="0" u="none" strike="noStrike">
                <a:solidFill>
                  <a:srgbClr val="7A5C60"/>
                </a:solidFill>
                <a:effectLst/>
                <a:uFillTx/>
                <a:latin typeface="Figtree"/>
                <a:ea typeface="Figtree"/>
              </a:rPr>
              <a:t>[6] </a:t>
            </a:r>
            <a:r>
              <a:rPr lang="en-US" sz="1300" b="0" u="none" strike="noStrike">
                <a:solidFill>
                  <a:srgbClr val="7A5C60"/>
                </a:solidFill>
                <a:effectLst/>
                <a:uFillTx/>
                <a:latin typeface="Figtree"/>
                <a:ea typeface="Figtree"/>
              </a:rPr>
              <a:t>Crosb</a:t>
            </a:r>
            <a:r>
              <a:rPr lang="en-US" sz="1300" b="0" u="none" strike="noStrike">
                <a:solidFill>
                  <a:srgbClr val="7A5C60"/>
                </a:solidFill>
                <a:effectLst/>
                <a:uFillTx/>
                <a:latin typeface="Figtree"/>
                <a:ea typeface="Figtree"/>
              </a:rPr>
              <a:t>y &amp; </a:t>
            </a:r>
            <a:r>
              <a:rPr lang="en-US" sz="1300" b="0" u="none" strike="noStrike">
                <a:solidFill>
                  <a:srgbClr val="7A5C60"/>
                </a:solidFill>
                <a:effectLst/>
                <a:uFillTx/>
                <a:latin typeface="Figtree"/>
                <a:ea typeface="Figtree"/>
              </a:rPr>
              <a:t>Wallac</a:t>
            </a:r>
            <a:r>
              <a:rPr lang="en-US" sz="1300" b="0" u="none" strike="noStrike">
                <a:solidFill>
                  <a:srgbClr val="7A5C60"/>
                </a:solidFill>
                <a:effectLst/>
                <a:uFillTx/>
                <a:latin typeface="Figtree"/>
                <a:ea typeface="Figtree"/>
              </a:rPr>
              <a:t>h, </a:t>
            </a:r>
            <a:r>
              <a:rPr lang="en-US" sz="1300" b="0" u="none" strike="noStrike">
                <a:solidFill>
                  <a:srgbClr val="7A5C60"/>
                </a:solidFill>
                <a:effectLst/>
                <a:uFillTx/>
                <a:latin typeface="Figtree"/>
                <a:ea typeface="Figtree"/>
              </a:rPr>
              <a:t>USEN</a:t>
            </a:r>
            <a:r>
              <a:rPr lang="en-US" sz="1300" b="0" u="none" strike="noStrike">
                <a:solidFill>
                  <a:srgbClr val="7A5C60"/>
                </a:solidFill>
                <a:effectLst/>
                <a:uFillTx/>
                <a:latin typeface="Figtree"/>
                <a:ea typeface="Figtree"/>
              </a:rPr>
              <a:t>IX </a:t>
            </a:r>
            <a:r>
              <a:rPr lang="en-US" sz="1300" b="0" u="none" strike="noStrike">
                <a:solidFill>
                  <a:srgbClr val="7A5C60"/>
                </a:solidFill>
                <a:effectLst/>
                <a:uFillTx/>
                <a:latin typeface="Figtree"/>
                <a:ea typeface="Figtree"/>
              </a:rPr>
              <a:t>Securi</a:t>
            </a:r>
            <a:r>
              <a:rPr lang="en-US" sz="1300" b="0" u="none" strike="noStrike">
                <a:solidFill>
                  <a:srgbClr val="7A5C60"/>
                </a:solidFill>
                <a:effectLst/>
                <a:uFillTx/>
                <a:latin typeface="Figtree"/>
                <a:ea typeface="Figtree"/>
              </a:rPr>
              <a:t>ty </a:t>
            </a:r>
            <a:r>
              <a:rPr lang="en-US" sz="1300" b="0" u="none" strike="noStrike">
                <a:solidFill>
                  <a:srgbClr val="7A5C60"/>
                </a:solidFill>
                <a:effectLst/>
                <a:uFillTx/>
                <a:latin typeface="Figtree"/>
                <a:ea typeface="Figtree"/>
              </a:rPr>
              <a:t>2009. </a:t>
            </a:r>
            <a:r>
              <a:rPr lang="en-US" sz="1300" b="0" u="none" strike="noStrike">
                <a:solidFill>
                  <a:srgbClr val="7A5C60"/>
                </a:solidFill>
                <a:effectLst/>
                <a:uFillTx/>
                <a:latin typeface="Figtree"/>
                <a:ea typeface="Figtree"/>
              </a:rPr>
              <a:t>[7] </a:t>
            </a:r>
            <a:r>
              <a:rPr lang="en-US" sz="1300" b="0" u="none" strike="noStrike">
                <a:solidFill>
                  <a:srgbClr val="7A5C60"/>
                </a:solidFill>
                <a:effectLst/>
                <a:uFillTx/>
                <a:latin typeface="Figtree"/>
                <a:ea typeface="Figtree"/>
              </a:rPr>
              <a:t>Naka</a:t>
            </a:r>
            <a:r>
              <a:rPr lang="en-US" sz="1300" b="0" u="none" strike="noStrike">
                <a:solidFill>
                  <a:srgbClr val="7A5C60"/>
                </a:solidFill>
                <a:effectLst/>
                <a:uFillTx/>
                <a:latin typeface="Figtree"/>
                <a:ea typeface="Figtree"/>
              </a:rPr>
              <a:t>moto, </a:t>
            </a:r>
            <a:r>
              <a:rPr lang="en-US" sz="1300" b="0" u="none" strike="noStrike">
                <a:solidFill>
                  <a:srgbClr val="7A5C60"/>
                </a:solidFill>
                <a:effectLst/>
                <a:uFillTx/>
                <a:latin typeface="Figtree"/>
                <a:ea typeface="Figtree"/>
              </a:rPr>
              <a:t>2008. </a:t>
            </a:r>
            <a:r>
              <a:rPr lang="en-US" sz="1300" b="0" u="none" strike="noStrike">
                <a:solidFill>
                  <a:srgbClr val="7A5C60"/>
                </a:solidFill>
                <a:effectLst/>
                <a:uFillTx/>
                <a:latin typeface="Figtree"/>
                <a:ea typeface="Figtree"/>
              </a:rPr>
              <a:t>[8] </a:t>
            </a:r>
            <a:r>
              <a:rPr lang="en-US" sz="1300" b="0" u="none" strike="noStrike">
                <a:solidFill>
                  <a:srgbClr val="7A5C60"/>
                </a:solidFill>
                <a:effectLst/>
                <a:uFillTx/>
                <a:latin typeface="Figtree"/>
                <a:ea typeface="Figtree"/>
              </a:rPr>
              <a:t>Kshetr</a:t>
            </a:r>
            <a:r>
              <a:rPr lang="en-US" sz="1300" b="0" u="none" strike="noStrike">
                <a:solidFill>
                  <a:srgbClr val="7A5C60"/>
                </a:solidFill>
                <a:effectLst/>
                <a:uFillTx/>
                <a:latin typeface="Figtree"/>
                <a:ea typeface="Figtree"/>
              </a:rPr>
              <a:t>i, Int. </a:t>
            </a:r>
            <a:r>
              <a:rPr lang="en-US" sz="1300" b="0" u="none" strike="noStrike">
                <a:solidFill>
                  <a:srgbClr val="7A5C60"/>
                </a:solidFill>
                <a:effectLst/>
                <a:uFillTx/>
                <a:latin typeface="Figtree"/>
                <a:ea typeface="Figtree"/>
              </a:rPr>
              <a:t>J. Inf. </a:t>
            </a:r>
            <a:r>
              <a:rPr lang="en-US" sz="1300" b="0" u="none" strike="noStrike">
                <a:solidFill>
                  <a:srgbClr val="7A5C60"/>
                </a:solidFill>
                <a:effectLst/>
                <a:uFillTx/>
                <a:latin typeface="Figtree"/>
                <a:ea typeface="Figtree"/>
              </a:rPr>
              <a:t>Mana</a:t>
            </a:r>
            <a:r>
              <a:rPr lang="en-US" sz="1300" b="0" u="none" strike="noStrike">
                <a:solidFill>
                  <a:srgbClr val="7A5C60"/>
                </a:solidFill>
                <a:effectLst/>
                <a:uFillTx/>
                <a:latin typeface="Figtree"/>
                <a:ea typeface="Figtree"/>
              </a:rPr>
              <a:t>ge., </a:t>
            </a:r>
            <a:r>
              <a:rPr lang="en-US" sz="1300" b="0" u="none" strike="noStrike">
                <a:solidFill>
                  <a:srgbClr val="7A5C60"/>
                </a:solidFill>
                <a:effectLst/>
                <a:uFillTx/>
                <a:latin typeface="Figtree"/>
                <a:ea typeface="Figtree"/>
              </a:rPr>
              <a:t>2018. </a:t>
            </a:r>
            <a:r>
              <a:rPr lang="en-US" sz="1300" b="0" u="none" strike="noStrike">
                <a:solidFill>
                  <a:srgbClr val="7A5C60"/>
                </a:solidFill>
                <a:effectLst/>
                <a:uFillTx/>
                <a:latin typeface="Figtree"/>
                <a:ea typeface="Figtree"/>
              </a:rPr>
              <a:t>[9] </a:t>
            </a:r>
            <a:r>
              <a:rPr lang="en-US" sz="1300" b="0" u="none" strike="noStrike">
                <a:solidFill>
                  <a:srgbClr val="7A5C60"/>
                </a:solidFill>
                <a:effectLst/>
                <a:uFillTx/>
                <a:latin typeface="Figtree"/>
                <a:ea typeface="Figtree"/>
              </a:rPr>
              <a:t>FastA</a:t>
            </a:r>
            <a:r>
              <a:rPr lang="en-US" sz="1300" b="0" u="none" strike="noStrike">
                <a:solidFill>
                  <a:srgbClr val="7A5C60"/>
                </a:solidFill>
                <a:effectLst/>
                <a:uFillTx/>
                <a:latin typeface="Figtree"/>
                <a:ea typeface="Figtree"/>
              </a:rPr>
              <a:t>PI, </a:t>
            </a:r>
            <a:r>
              <a:rPr lang="en-US" sz="1300" b="0" u="none" strike="noStrike">
                <a:solidFill>
                  <a:srgbClr val="7A5C60"/>
                </a:solidFill>
                <a:effectLst/>
                <a:uFillTx/>
                <a:latin typeface="Figtree"/>
                <a:ea typeface="Figtree"/>
              </a:rPr>
              <a:t>React, </a:t>
            </a:r>
            <a:r>
              <a:rPr lang="en-US" sz="1300" b="0" u="none" strike="noStrike">
                <a:solidFill>
                  <a:srgbClr val="7A5C60"/>
                </a:solidFill>
                <a:effectLst/>
                <a:uFillTx/>
                <a:latin typeface="Figtree"/>
                <a:ea typeface="Figtree"/>
              </a:rPr>
              <a:t>SQLit</a:t>
            </a:r>
            <a:r>
              <a:rPr lang="en-US" sz="1300" b="0" u="none" strike="noStrike">
                <a:solidFill>
                  <a:srgbClr val="7A5C60"/>
                </a:solidFill>
                <a:effectLst/>
                <a:uFillTx/>
                <a:latin typeface="Figtree"/>
                <a:ea typeface="Figtree"/>
              </a:rPr>
              <a:t>e, </a:t>
            </a:r>
            <a:r>
              <a:rPr lang="en-US" sz="1300" b="0" u="none" strike="noStrike">
                <a:solidFill>
                  <a:srgbClr val="7A5C60"/>
                </a:solidFill>
                <a:effectLst/>
                <a:uFillTx/>
                <a:latin typeface="Figtree"/>
                <a:ea typeface="Figtree"/>
              </a:rPr>
              <a:t>crypt</a:t>
            </a:r>
            <a:r>
              <a:rPr lang="en-US" sz="1300" b="0" u="none" strike="noStrike">
                <a:solidFill>
                  <a:srgbClr val="7A5C60"/>
                </a:solidFill>
                <a:effectLst/>
                <a:uFillTx/>
                <a:latin typeface="Figtree"/>
                <a:ea typeface="Figtree"/>
              </a:rPr>
              <a:t>ograp</a:t>
            </a:r>
            <a:r>
              <a:rPr lang="en-US" sz="1300" b="0" u="none" strike="noStrike">
                <a:solidFill>
                  <a:srgbClr val="7A5C60"/>
                </a:solidFill>
                <a:effectLst/>
                <a:uFillTx/>
                <a:latin typeface="Figtree"/>
                <a:ea typeface="Figtree"/>
              </a:rPr>
              <a:t>hy </a:t>
            </a:r>
            <a:r>
              <a:rPr lang="en-US" sz="1300" b="0" u="none" strike="noStrike">
                <a:solidFill>
                  <a:srgbClr val="7A5C60"/>
                </a:solidFill>
                <a:effectLst/>
                <a:uFillTx/>
                <a:latin typeface="Figtree"/>
                <a:ea typeface="Figtree"/>
              </a:rPr>
              <a:t>docs. </a:t>
            </a:r>
            <a:r>
              <a:rPr lang="en-US" sz="1300" b="0" u="none" strike="noStrike">
                <a:solidFill>
                  <a:srgbClr val="7A5C60"/>
                </a:solidFill>
                <a:effectLst/>
                <a:uFillTx/>
                <a:latin typeface="Figtree"/>
                <a:ea typeface="Figtree"/>
              </a:rPr>
              <a:t>[10] V. </a:t>
            </a:r>
            <a:r>
              <a:rPr lang="en-US" sz="1300" b="0" u="none" strike="noStrike">
                <a:solidFill>
                  <a:srgbClr val="7A5C60"/>
                </a:solidFill>
                <a:effectLst/>
                <a:uFillTx/>
                <a:latin typeface="Figtree"/>
                <a:ea typeface="Figtree"/>
              </a:rPr>
              <a:t>C. </a:t>
            </a:r>
            <a:r>
              <a:rPr lang="en-US" sz="1300" b="0" u="none" strike="noStrike">
                <a:solidFill>
                  <a:srgbClr val="7A5C60"/>
                </a:solidFill>
                <a:effectLst/>
                <a:uFillTx/>
                <a:latin typeface="Figtree"/>
                <a:ea typeface="Figtree"/>
              </a:rPr>
              <a:t>Tantri, </a:t>
            </a:r>
            <a:r>
              <a:rPr lang="en-US" sz="1300" b="0" u="none" strike="noStrike">
                <a:solidFill>
                  <a:srgbClr val="7A5C60"/>
                </a:solidFill>
                <a:effectLst/>
                <a:uFillTx/>
                <a:latin typeface="Figtree"/>
                <a:ea typeface="Figtree"/>
              </a:rPr>
              <a:t>CraftP</a:t>
            </a:r>
            <a:r>
              <a:rPr lang="en-US" sz="1300" b="0" u="none" strike="noStrike">
                <a:solidFill>
                  <a:srgbClr val="7A5C60"/>
                </a:solidFill>
                <a:effectLst/>
                <a:uFillTx/>
                <a:latin typeface="Figtree"/>
                <a:ea typeface="Figtree"/>
              </a:rPr>
              <a:t>roof, </a:t>
            </a:r>
            <a:r>
              <a:rPr lang="en-US" sz="1300" b="0" u="none" strike="noStrike">
                <a:solidFill>
                  <a:srgbClr val="7A5C60"/>
                </a:solidFill>
                <a:effectLst/>
                <a:uFillTx/>
                <a:latin typeface="Figtree"/>
                <a:ea typeface="Figtree"/>
              </a:rPr>
              <a:t>GitHu</a:t>
            </a:r>
            <a:r>
              <a:rPr lang="en-US" sz="1300" b="0" u="none" strike="noStrike">
                <a:solidFill>
                  <a:srgbClr val="7A5C60"/>
                </a:solidFill>
                <a:effectLst/>
                <a:uFillTx/>
                <a:latin typeface="Figtree"/>
                <a:ea typeface="Figtree"/>
              </a:rPr>
              <a:t>b.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D4FF"/>
                </a:solidFill>
              </a:defRPr>
            </a:pPr>
            <a:r>
              <a:t>WORKFLOW WALKTHROUGH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The maker: registering a piece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5486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D4FF"/>
                </a:solidFill>
              </a:defRPr>
            </a:pPr>
            <a:r>
              <a:t>Part: The maker: registering a piece  •  Step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A1A2E"/>
                </a:solidFill>
              </a:defRPr>
            </a:pPr>
            <a:r>
              <a:t>Landing page</a:t>
            </a:r>
          </a:p>
        </p:txBody>
      </p:sp>
      <p:pic>
        <p:nvPicPr>
          <p:cNvPr id="5" name="Picture 4" descr="01-lan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200" y="1920240"/>
            <a:ext cx="82296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5486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D4FF"/>
                </a:solidFill>
              </a:defRPr>
            </a:pPr>
            <a:r>
              <a:t>Part: The maker: registering a piece  •  Step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A1A2E"/>
                </a:solidFill>
              </a:defRPr>
            </a:pPr>
            <a:r>
              <a:t>The maker logs in</a:t>
            </a:r>
          </a:p>
        </p:txBody>
      </p:sp>
      <p:pic>
        <p:nvPicPr>
          <p:cNvPr id="5" name="Picture 4" descr="02-login-fill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200" y="1920240"/>
            <a:ext cx="82296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5486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D4FF"/>
                </a:solidFill>
              </a:defRPr>
            </a:pPr>
            <a:r>
              <a:t>Part: The maker: registering a piece  •  Step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A1A2E"/>
                </a:solidFill>
              </a:defRPr>
            </a:pPr>
            <a:r>
              <a:t>Her studio dashboard</a:t>
            </a:r>
          </a:p>
        </p:txBody>
      </p:sp>
      <p:pic>
        <p:nvPicPr>
          <p:cNvPr id="5" name="Picture 4" descr="03-maker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200" y="1920240"/>
            <a:ext cx="82296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5486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D4FF"/>
                </a:solidFill>
              </a:defRPr>
            </a:pPr>
            <a:r>
              <a:t>Part: The maker: registering a piece  •  Step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A1A2E"/>
                </a:solidFill>
              </a:defRPr>
            </a:pPr>
            <a:r>
              <a:t>Registering a new piece</a:t>
            </a:r>
          </a:p>
        </p:txBody>
      </p:sp>
      <p:pic>
        <p:nvPicPr>
          <p:cNvPr id="5" name="Picture 4" descr="04-register-piece-f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200" y="1920240"/>
            <a:ext cx="82296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5486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D4FF"/>
                </a:solidFill>
              </a:defRPr>
            </a:pPr>
            <a:r>
              <a:t>Part: The maker: registering a piece  •  Step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A1A2E"/>
                </a:solidFill>
              </a:defRPr>
            </a:pPr>
            <a:r>
              <a:t>Certificate created</a:t>
            </a:r>
          </a:p>
        </p:txBody>
      </p:sp>
      <p:pic>
        <p:nvPicPr>
          <p:cNvPr id="5" name="Picture 4" descr="05-maker-dashboard-with-certific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200" y="1920240"/>
            <a:ext cx="82296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5486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D4FF"/>
                </a:solidFill>
              </a:defRPr>
            </a:pPr>
            <a:r>
              <a:t>Part: The maker: registering a piece  •  Step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A1A2E"/>
                </a:solidFill>
              </a:defRPr>
            </a:pPr>
            <a:r>
              <a:t>Certificate created</a:t>
            </a:r>
          </a:p>
        </p:txBody>
      </p:sp>
      <p:pic>
        <p:nvPicPr>
          <p:cNvPr id="5" name="Picture 4" descr="06-piece-card-qr-t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200" y="1920240"/>
            <a:ext cx="82296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D4FF"/>
                </a:solidFill>
              </a:defRPr>
            </a:pPr>
            <a:r>
              <a:t>WORKFLOW WALKTHROUGH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The handover: maker → gallery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5486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D4FF"/>
                </a:solidFill>
              </a:defRPr>
            </a:pPr>
            <a:r>
              <a:t>Part: The handover: maker → gallery  •  Step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A1A2E"/>
                </a:solidFill>
              </a:defRPr>
            </a:pPr>
            <a:r>
              <a:t>Transferring to a gallery</a:t>
            </a:r>
          </a:p>
        </p:txBody>
      </p:sp>
      <p:pic>
        <p:nvPicPr>
          <p:cNvPr id="5" name="Picture 4" descr="07-transfer-form-fill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200" y="1920240"/>
            <a:ext cx="82296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5486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D4FF"/>
                </a:solidFill>
              </a:defRPr>
            </a:pPr>
            <a:r>
              <a:t>Part: The handover: maker → gallery  •  Step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A1A2E"/>
                </a:solidFill>
              </a:defRPr>
            </a:pPr>
            <a:r>
              <a:t>It's out of her hands</a:t>
            </a:r>
          </a:p>
        </p:txBody>
      </p:sp>
      <p:pic>
        <p:nvPicPr>
          <p:cNvPr id="5" name="Picture 4" descr="08-maker-dashboard-after-transf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200" y="1920240"/>
            <a:ext cx="82296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D4FF"/>
                </a:solidFill>
              </a:defRPr>
            </a:pPr>
            <a:r>
              <a:t>WORKFLOW WALKTHROUGH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The gallery: selling to a customer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5486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D4FF"/>
                </a:solidFill>
              </a:defRPr>
            </a:pPr>
            <a:r>
              <a:t>Part: The gallery: selling to a customer  •  Step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A1A2E"/>
                </a:solidFill>
              </a:defRPr>
            </a:pPr>
            <a:r>
              <a:t>The gallery logs in</a:t>
            </a:r>
          </a:p>
        </p:txBody>
      </p:sp>
      <p:pic>
        <p:nvPicPr>
          <p:cNvPr id="5" name="Picture 4" descr="09-gallery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200" y="1920240"/>
            <a:ext cx="82296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5486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D4FF"/>
                </a:solidFill>
              </a:defRPr>
            </a:pPr>
            <a:r>
              <a:t>Part: The gallery: selling to a customer  •  Step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A1A2E"/>
                </a:solidFill>
              </a:defRPr>
            </a:pPr>
            <a:r>
              <a:t>Selling to a buyer with no account</a:t>
            </a:r>
          </a:p>
        </p:txBody>
      </p:sp>
      <p:pic>
        <p:nvPicPr>
          <p:cNvPr id="5" name="Picture 4" descr="10-sell-to-buyer-f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200" y="1920240"/>
            <a:ext cx="82296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5486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D4FF"/>
                </a:solidFill>
              </a:defRPr>
            </a:pPr>
            <a:r>
              <a:t>Part: The gallery: selling to a customer  •  Step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A1A2E"/>
                </a:solidFill>
              </a:defRPr>
            </a:pPr>
            <a:r>
              <a:t>Sale recorded</a:t>
            </a:r>
          </a:p>
        </p:txBody>
      </p:sp>
      <p:pic>
        <p:nvPicPr>
          <p:cNvPr id="5" name="Picture 4" descr="11-gallery-after-sa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200" y="1920240"/>
            <a:ext cx="82296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D4FF"/>
                </a:solidFill>
              </a:defRPr>
            </a:pPr>
            <a:r>
              <a:t>WORKFLOW WALKTHROUGH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Sealing history: the public ledger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5486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D4FF"/>
                </a:solidFill>
              </a:defRPr>
            </a:pPr>
            <a:r>
              <a:t>Part: Sealing history: the public ledger  •  Step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A1A2E"/>
                </a:solidFill>
              </a:defRPr>
            </a:pPr>
            <a:r>
              <a:t>Publishing a checkpoint</a:t>
            </a:r>
          </a:p>
        </p:txBody>
      </p:sp>
      <p:pic>
        <p:nvPicPr>
          <p:cNvPr id="5" name="Picture 4" descr="12-ledger-checkpoi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200" y="1920240"/>
            <a:ext cx="82296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D4FF"/>
                </a:solidFill>
              </a:defRPr>
            </a:pPr>
            <a:r>
              <a:t>WORKFLOW WALKTHROUGH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The buyer: verifying with no account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5486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D4FF"/>
                </a:solidFill>
              </a:defRPr>
            </a:pPr>
            <a:r>
              <a:t>Part: The buyer: verifying with no account  •  Step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A1A2E"/>
                </a:solidFill>
              </a:defRPr>
            </a:pPr>
            <a:r>
              <a:t>The public certificate page</a:t>
            </a:r>
          </a:p>
        </p:txBody>
      </p:sp>
      <p:pic>
        <p:nvPicPr>
          <p:cNvPr id="5" name="Picture 4" descr="13-certificate-verifi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200" y="1920240"/>
            <a:ext cx="82296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5486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D4FF"/>
                </a:solidFill>
              </a:defRPr>
            </a:pPr>
            <a:r>
              <a:t>Part: The buyer: verifying with no account  •  Step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A1A2E"/>
                </a:solidFill>
              </a:defRPr>
            </a:pPr>
            <a:r>
              <a:t>"How is this verified?"</a:t>
            </a:r>
          </a:p>
        </p:txBody>
      </p:sp>
      <p:pic>
        <p:nvPicPr>
          <p:cNvPr id="5" name="Picture 4" descr="13-certificate-verifi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200" y="1920240"/>
            <a:ext cx="82296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5486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D4FF"/>
                </a:solidFill>
              </a:defRPr>
            </a:pPr>
            <a:r>
              <a:t>Part: The buyer: verifying with no account  •  Step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A1A2E"/>
                </a:solidFill>
              </a:defRPr>
            </a:pPr>
            <a:r>
              <a:t>How it works page</a:t>
            </a:r>
          </a:p>
        </p:txBody>
      </p:sp>
      <p:pic>
        <p:nvPicPr>
          <p:cNvPr id="5" name="Picture 4" descr="15-how-it-wor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200" y="1920240"/>
            <a:ext cx="82296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D4FF"/>
                </a:solidFill>
              </a:defRPr>
            </a:pPr>
            <a:r>
              <a:t>WORKFLOW WALKTHROUGH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The payoff: catching tampering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5486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D4FF"/>
                </a:solidFill>
              </a:defRPr>
            </a:pPr>
            <a:r>
              <a:t>Part: The payoff: catching tampering  •  Step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A1A2E"/>
                </a:solidFill>
              </a:defRPr>
            </a:pPr>
            <a:r>
              <a:t>The certificate turns red</a:t>
            </a:r>
          </a:p>
        </p:txBody>
      </p:sp>
      <p:pic>
        <p:nvPicPr>
          <p:cNvPr id="5" name="Picture 4" descr="16-certificate-tampe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200" y="1920240"/>
            <a:ext cx="8229600" cy="4572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60</TotalTime>
  <Application>LibreOffice/26.2.5.2$Linux_X86_64 LibreOffice_project/cd7284b4cbbfeb507e630c1aac019f4157393acb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2026-10-19T13:56:50Z</dcterms:created>
  <dc:creator/>
  <dc:description/>
  <dc:language>en-US</dc:language>
  <cp:lastModifiedBy/>
  <dcterms:modified xsi:type="dcterms:W3CDTF">2026-10-19T20:29:22Z</dcterms:modified>
  <cp:revision>3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10</vt:i4>
  </property>
  <property fmtid="{D5CDD505-2E9C-101B-9397-08002B2CF9AE}" pid="3" name="PresentationFormat">
    <vt:lpwstr>On-screen Show (16:9)</vt:lpwstr>
  </property>
  <property fmtid="{D5CDD505-2E9C-101B-9397-08002B2CF9AE}" pid="4" name="Slides">
    <vt:i4>10</vt:i4>
  </property>
</Properties>
</file>